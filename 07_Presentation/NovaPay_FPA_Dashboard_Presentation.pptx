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252414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NovaPay Financial Performance Dashboard presentation. This project demonstrates an end-to-end FP&amp;A analytics workflow using Excel, SQL, Python, and Power BI for a fictional fintech company.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NovaPay is a fictional fintech company created to simulate a realistic FP&amp;A analytics environment. The project covers all major dimensions of corporate finance performance: revenue, costs, profitability, customer metrics, and forward planning.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business problem was fragmented financial data with no unified view. This project addresses all six pain points by building an integrated FP&amp;A analytics system.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follows a classic FP&amp;A technology stack. Excel is the source-of-truth financial model, SQL performs deep-dive analysis, Python generates forecasts, Power BI visualizes performance, and the executive report delivers insights to leadership.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contains 7 relational tables modeled after a real FP&amp;A environment. Revenue, expenses, KPIs, budgets, and customers each live in separate sheets, enabling clean dimensional analysis.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BI dashboard provides an interactive single-page view of all financial KPIs. The month slicer allows users to filter all panels simultaneously. KPI cards update dynamically with revenue, gross margin, EBITDA, active customers, and churn rate.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insights summarize the most material findings from the financial analysis. The growth story is positive on revenue but the cost structure needs attention. CAC and customer concentration are risk areas requiring strategic action.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recommendations translate the data insights into actionable management priorities. They are sequenced by impact and feasibility, with cost control and margin expansion as the highest-priority items.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Python forecasting engine generates scenario outputs for Base, Bull, and Bear cases by applying growth rate, churn, and payroll inflation assumptions to the latest actuals. SQL queries provide 12 reusable analytical views for ongoing management reporting.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demonstrates a complete FP&amp;A analytics workflow from raw financial data to executive-ready insights. The five-tool stack mirrors real-world analytics engineering practices and makes this portfolio piece relevant for finance, data, and analytics roles.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p>
        </p:txBody>
      </p:sp>
      <p:sp>
        <p:nvSpPr>
          <p:cNvPr id="3" name="Shape 1"/>
          <p:cNvSpPr/>
          <p:nvPr/>
        </p:nvSpPr>
        <p:spPr>
          <a:xfrm>
            <a:off x="6583680" y="27432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4" name="Shape 2"/>
          <p:cNvSpPr/>
          <p:nvPr/>
        </p:nvSpPr>
        <p:spPr>
          <a:xfrm>
            <a:off x="6583680" y="68580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5" name="Shape 3"/>
          <p:cNvSpPr/>
          <p:nvPr/>
        </p:nvSpPr>
        <p:spPr>
          <a:xfrm>
            <a:off x="6583680" y="109728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6" name="Shape 4"/>
          <p:cNvSpPr/>
          <p:nvPr/>
        </p:nvSpPr>
        <p:spPr>
          <a:xfrm>
            <a:off x="6583680" y="150876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7" name="Shape 5"/>
          <p:cNvSpPr/>
          <p:nvPr/>
        </p:nvSpPr>
        <p:spPr>
          <a:xfrm>
            <a:off x="6995160" y="27432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8" name="Shape 6"/>
          <p:cNvSpPr/>
          <p:nvPr/>
        </p:nvSpPr>
        <p:spPr>
          <a:xfrm>
            <a:off x="6995160" y="68580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9" name="Shape 7"/>
          <p:cNvSpPr/>
          <p:nvPr/>
        </p:nvSpPr>
        <p:spPr>
          <a:xfrm>
            <a:off x="6995160" y="109728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0" name="Shape 8"/>
          <p:cNvSpPr/>
          <p:nvPr/>
        </p:nvSpPr>
        <p:spPr>
          <a:xfrm>
            <a:off x="6995160" y="150876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1" name="Shape 9"/>
          <p:cNvSpPr/>
          <p:nvPr/>
        </p:nvSpPr>
        <p:spPr>
          <a:xfrm>
            <a:off x="7406640" y="27432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2" name="Shape 10"/>
          <p:cNvSpPr/>
          <p:nvPr/>
        </p:nvSpPr>
        <p:spPr>
          <a:xfrm>
            <a:off x="7406640" y="68580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3" name="Shape 11"/>
          <p:cNvSpPr/>
          <p:nvPr/>
        </p:nvSpPr>
        <p:spPr>
          <a:xfrm>
            <a:off x="7406640" y="109728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4" name="Shape 12"/>
          <p:cNvSpPr/>
          <p:nvPr/>
        </p:nvSpPr>
        <p:spPr>
          <a:xfrm>
            <a:off x="7406640" y="150876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5" name="Shape 13"/>
          <p:cNvSpPr/>
          <p:nvPr/>
        </p:nvSpPr>
        <p:spPr>
          <a:xfrm>
            <a:off x="7818120" y="27432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6" name="Shape 14"/>
          <p:cNvSpPr/>
          <p:nvPr/>
        </p:nvSpPr>
        <p:spPr>
          <a:xfrm>
            <a:off x="7818120" y="68580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7" name="Shape 15"/>
          <p:cNvSpPr/>
          <p:nvPr/>
        </p:nvSpPr>
        <p:spPr>
          <a:xfrm>
            <a:off x="7818120" y="109728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8" name="Shape 16"/>
          <p:cNvSpPr/>
          <p:nvPr/>
        </p:nvSpPr>
        <p:spPr>
          <a:xfrm>
            <a:off x="7818120" y="150876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19" name="Shape 17"/>
          <p:cNvSpPr/>
          <p:nvPr/>
        </p:nvSpPr>
        <p:spPr>
          <a:xfrm>
            <a:off x="8229600" y="27432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20" name="Shape 18"/>
          <p:cNvSpPr/>
          <p:nvPr/>
        </p:nvSpPr>
        <p:spPr>
          <a:xfrm>
            <a:off x="8229600" y="68580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21" name="Shape 19"/>
          <p:cNvSpPr/>
          <p:nvPr/>
        </p:nvSpPr>
        <p:spPr>
          <a:xfrm>
            <a:off x="8229600" y="109728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22" name="Shape 20"/>
          <p:cNvSpPr/>
          <p:nvPr/>
        </p:nvSpPr>
        <p:spPr>
          <a:xfrm>
            <a:off x="8229600" y="150876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23" name="Shape 21"/>
          <p:cNvSpPr/>
          <p:nvPr/>
        </p:nvSpPr>
        <p:spPr>
          <a:xfrm>
            <a:off x="8641080" y="27432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24" name="Shape 22"/>
          <p:cNvSpPr/>
          <p:nvPr/>
        </p:nvSpPr>
        <p:spPr>
          <a:xfrm>
            <a:off x="8641080" y="68580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25" name="Shape 23"/>
          <p:cNvSpPr/>
          <p:nvPr/>
        </p:nvSpPr>
        <p:spPr>
          <a:xfrm>
            <a:off x="8641080" y="109728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26" name="Shape 24"/>
          <p:cNvSpPr/>
          <p:nvPr/>
        </p:nvSpPr>
        <p:spPr>
          <a:xfrm>
            <a:off x="8641080" y="1508760"/>
            <a:ext cx="54864" cy="54864"/>
          </a:xfrm>
          <a:prstGeom prst="ellipse">
            <a:avLst/>
          </a:prstGeom>
          <a:solidFill>
            <a:srgbClr val="0D9488">
              <a:alpha val="30000"/>
            </a:srgbClr>
          </a:solidFill>
          <a:ln w="12700">
            <a:solidFill>
              <a:srgbClr val="0D9488">
                <a:alpha val="30000"/>
              </a:srgbClr>
            </a:solidFill>
            <a:prstDash val="solid"/>
          </a:ln>
        </p:spPr>
        <p:txBody>
          <a:bodyPr/>
          <a:lstStyle/>
          <a:p>
            <a:endParaRPr lang="en-US"/>
          </a:p>
        </p:txBody>
      </p:sp>
      <p:sp>
        <p:nvSpPr>
          <p:cNvPr id="27" name="Text 25"/>
          <p:cNvSpPr/>
          <p:nvPr/>
        </p:nvSpPr>
        <p:spPr>
          <a:xfrm>
            <a:off x="411480" y="822960"/>
            <a:ext cx="6400800" cy="914400"/>
          </a:xfrm>
          <a:prstGeom prst="rect">
            <a:avLst/>
          </a:prstGeom>
          <a:noFill/>
          <a:ln/>
        </p:spPr>
        <p:txBody>
          <a:bodyPr wrap="square" rtlCol="0" anchor="ctr"/>
          <a:lstStyle/>
          <a:p>
            <a:pPr marL="0" indent="0" algn="l">
              <a:buNone/>
            </a:pPr>
            <a:r>
              <a:rPr lang="en-US" sz="5200" b="1" dirty="0">
                <a:solidFill>
                  <a:srgbClr val="FFFFFF"/>
                </a:solidFill>
                <a:latin typeface="Calibri" pitchFamily="34" charset="0"/>
                <a:ea typeface="Calibri" pitchFamily="34" charset="-122"/>
                <a:cs typeface="Calibri" pitchFamily="34" charset="-120"/>
              </a:rPr>
              <a:t>NovaPay</a:t>
            </a:r>
            <a:endParaRPr lang="en-US" sz="5200" dirty="0"/>
          </a:p>
        </p:txBody>
      </p:sp>
      <p:sp>
        <p:nvSpPr>
          <p:cNvPr id="28" name="Text 26"/>
          <p:cNvSpPr/>
          <p:nvPr/>
        </p:nvSpPr>
        <p:spPr>
          <a:xfrm>
            <a:off x="411480" y="1600200"/>
            <a:ext cx="7315200" cy="640080"/>
          </a:xfrm>
          <a:prstGeom prst="rect">
            <a:avLst/>
          </a:prstGeom>
          <a:noFill/>
          <a:ln/>
        </p:spPr>
        <p:txBody>
          <a:bodyPr wrap="square" rtlCol="0" anchor="ctr"/>
          <a:lstStyle/>
          <a:p>
            <a:pPr marL="0" indent="0" algn="l">
              <a:buNone/>
            </a:pPr>
            <a:r>
              <a:rPr lang="en-US" sz="2600" dirty="0">
                <a:solidFill>
                  <a:srgbClr val="14B8A6"/>
                </a:solidFill>
                <a:latin typeface="Calibri" pitchFamily="34" charset="0"/>
                <a:ea typeface="Calibri" pitchFamily="34" charset="-122"/>
                <a:cs typeface="Calibri" pitchFamily="34" charset="-120"/>
              </a:rPr>
              <a:t>Financial Performance Dashboard</a:t>
            </a:r>
            <a:endParaRPr lang="en-US" sz="2600" dirty="0"/>
          </a:p>
        </p:txBody>
      </p:sp>
      <p:sp>
        <p:nvSpPr>
          <p:cNvPr id="29" name="Shape 27"/>
          <p:cNvSpPr/>
          <p:nvPr/>
        </p:nvSpPr>
        <p:spPr>
          <a:xfrm>
            <a:off x="411480" y="2331720"/>
            <a:ext cx="5486400" cy="36576"/>
          </a:xfrm>
          <a:prstGeom prst="rect">
            <a:avLst/>
          </a:prstGeom>
          <a:solidFill>
            <a:srgbClr val="0D9488">
              <a:alpha val="70000"/>
            </a:srgbClr>
          </a:solidFill>
          <a:ln w="12700">
            <a:solidFill>
              <a:srgbClr val="0D9488">
                <a:alpha val="70000"/>
              </a:srgbClr>
            </a:solidFill>
            <a:prstDash val="solid"/>
          </a:ln>
        </p:spPr>
        <p:txBody>
          <a:bodyPr/>
          <a:lstStyle/>
          <a:p>
            <a:endParaRPr lang="en-US"/>
          </a:p>
        </p:txBody>
      </p:sp>
      <p:sp>
        <p:nvSpPr>
          <p:cNvPr id="30" name="Text 28"/>
          <p:cNvSpPr/>
          <p:nvPr/>
        </p:nvSpPr>
        <p:spPr>
          <a:xfrm>
            <a:off x="411480" y="2487168"/>
            <a:ext cx="7315200" cy="411480"/>
          </a:xfrm>
          <a:prstGeom prst="rect">
            <a:avLst/>
          </a:prstGeom>
          <a:noFill/>
          <a:ln/>
        </p:spPr>
        <p:txBody>
          <a:bodyPr wrap="square" rtlCol="0" anchor="ctr"/>
          <a:lstStyle/>
          <a:p>
            <a:pPr marL="0" indent="0" algn="l">
              <a:buNone/>
            </a:pPr>
            <a:r>
              <a:rPr lang="en-US" sz="1600" i="1" dirty="0">
                <a:solidFill>
                  <a:srgbClr val="A0B4C8"/>
                </a:solidFill>
                <a:latin typeface="Calibri" pitchFamily="34" charset="0"/>
                <a:ea typeface="Calibri" pitchFamily="34" charset="-122"/>
                <a:cs typeface="Calibri" pitchFamily="34" charset="-120"/>
              </a:rPr>
              <a:t>AI-Enabled FP&amp;A Command Center</a:t>
            </a:r>
            <a:endParaRPr lang="en-US" sz="1600" dirty="0"/>
          </a:p>
        </p:txBody>
      </p:sp>
      <p:sp>
        <p:nvSpPr>
          <p:cNvPr id="31" name="Text 29"/>
          <p:cNvSpPr/>
          <p:nvPr/>
        </p:nvSpPr>
        <p:spPr>
          <a:xfrm>
            <a:off x="411480" y="2944368"/>
            <a:ext cx="7315200" cy="365760"/>
          </a:xfrm>
          <a:prstGeom prst="rect">
            <a:avLst/>
          </a:prstGeom>
          <a:noFill/>
          <a:ln/>
        </p:spPr>
        <p:txBody>
          <a:bodyPr wrap="square" rtlCol="0" anchor="ctr"/>
          <a:lstStyle/>
          <a:p>
            <a:pPr marL="0" indent="0" algn="l">
              <a:buNone/>
            </a:pPr>
            <a:r>
              <a:rPr lang="en-US" sz="1400" dirty="0">
                <a:solidFill>
                  <a:srgbClr val="7A96B0"/>
                </a:solidFill>
                <a:latin typeface="Calibri" pitchFamily="34" charset="0"/>
                <a:ea typeface="Calibri" pitchFamily="34" charset="-122"/>
                <a:cs typeface="Calibri" pitchFamily="34" charset="-120"/>
              </a:rPr>
              <a:t>Excel  ·  SQL  ·  Python  ·  Power BI</a:t>
            </a:r>
            <a:endParaRPr lang="en-US" sz="1400" dirty="0"/>
          </a:p>
        </p:txBody>
      </p:sp>
      <p:sp>
        <p:nvSpPr>
          <p:cNvPr id="32" name="Text 30"/>
          <p:cNvSpPr/>
          <p:nvPr/>
        </p:nvSpPr>
        <p:spPr>
          <a:xfrm>
            <a:off x="411480" y="4160520"/>
            <a:ext cx="4572000" cy="347472"/>
          </a:xfrm>
          <a:prstGeom prst="rect">
            <a:avLst/>
          </a:prstGeom>
          <a:noFill/>
          <a:ln/>
        </p:spPr>
        <p:txBody>
          <a:bodyPr wrap="square" rtlCol="0" anchor="ctr"/>
          <a:lstStyle/>
          <a:p>
            <a:pPr marL="0" indent="0" algn="l">
              <a:buNone/>
            </a:pPr>
            <a:r>
              <a:rPr lang="en-US" sz="1400" b="1" dirty="0">
                <a:solidFill>
                  <a:srgbClr val="FFFFFF"/>
                </a:solidFill>
                <a:latin typeface="Calibri" pitchFamily="34" charset="0"/>
                <a:ea typeface="Calibri" pitchFamily="34" charset="-122"/>
                <a:cs typeface="Calibri" pitchFamily="34" charset="-120"/>
              </a:rPr>
              <a:t>Srushti Mahant Pawar</a:t>
            </a:r>
            <a:endParaRPr lang="en-US" sz="1400" dirty="0"/>
          </a:p>
        </p:txBody>
      </p:sp>
      <p:sp>
        <p:nvSpPr>
          <p:cNvPr id="33" name="Text 31"/>
          <p:cNvSpPr/>
          <p:nvPr/>
        </p:nvSpPr>
        <p:spPr>
          <a:xfrm>
            <a:off x="411480" y="4526280"/>
            <a:ext cx="5486400" cy="274320"/>
          </a:xfrm>
          <a:prstGeom prst="rect">
            <a:avLst/>
          </a:prstGeom>
          <a:noFill/>
          <a:ln/>
        </p:spPr>
        <p:txBody>
          <a:bodyPr wrap="square" rtlCol="0" anchor="ctr"/>
          <a:lstStyle/>
          <a:p>
            <a:pPr marL="0" indent="0" algn="l">
              <a:buNone/>
            </a:pPr>
            <a:r>
              <a:rPr lang="en-US" sz="1100" dirty="0">
                <a:solidFill>
                  <a:srgbClr val="7A96B0"/>
                </a:solidFill>
                <a:latin typeface="Calibri" pitchFamily="34" charset="0"/>
                <a:ea typeface="Calibri" pitchFamily="34" charset="-122"/>
                <a:cs typeface="Calibri" pitchFamily="34" charset="-120"/>
              </a:rPr>
              <a:t>FP&amp;A Analytics Portfolio Project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Project Overview</a:t>
            </a:r>
            <a:endParaRPr lang="en-US" sz="2400" dirty="0"/>
          </a:p>
        </p:txBody>
      </p:sp>
      <p:sp>
        <p:nvSpPr>
          <p:cNvPr id="4" name="Shape 2"/>
          <p:cNvSpPr/>
          <p:nvPr/>
        </p:nvSpPr>
        <p:spPr>
          <a:xfrm>
            <a:off x="365760" y="960120"/>
            <a:ext cx="3840480" cy="3520440"/>
          </a:xfrm>
          <a:prstGeom prst="rect">
            <a:avLst/>
          </a:prstGeom>
          <a:solidFill>
            <a:srgbClr val="F0F4F8"/>
          </a:solidFill>
          <a:ln w="12700">
            <a:solidFill>
              <a:srgbClr val="E2E8F0"/>
            </a:solidFill>
            <a:prstDash val="solid"/>
          </a:ln>
        </p:spPr>
        <p:txBody>
          <a:bodyPr/>
          <a:lstStyle/>
          <a:p>
            <a:endParaRPr lang="en-US"/>
          </a:p>
        </p:txBody>
      </p:sp>
      <p:sp>
        <p:nvSpPr>
          <p:cNvPr id="5" name="Shape 3"/>
          <p:cNvSpPr/>
          <p:nvPr/>
        </p:nvSpPr>
        <p:spPr>
          <a:xfrm>
            <a:off x="365760" y="960120"/>
            <a:ext cx="3840480" cy="54864"/>
          </a:xfrm>
          <a:prstGeom prst="rect">
            <a:avLst/>
          </a:prstGeom>
          <a:solidFill>
            <a:srgbClr val="0D9488"/>
          </a:solidFill>
          <a:ln w="12700">
            <a:solidFill>
              <a:srgbClr val="0D9488"/>
            </a:solidFill>
            <a:prstDash val="solid"/>
          </a:ln>
        </p:spPr>
        <p:txBody>
          <a:bodyPr/>
          <a:lstStyle/>
          <a:p>
            <a:endParaRPr lang="en-US"/>
          </a:p>
        </p:txBody>
      </p:sp>
      <p:sp>
        <p:nvSpPr>
          <p:cNvPr id="6" name="Text 4"/>
          <p:cNvSpPr/>
          <p:nvPr/>
        </p:nvSpPr>
        <p:spPr>
          <a:xfrm>
            <a:off x="548640" y="1051560"/>
            <a:ext cx="347472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The Company</a:t>
            </a:r>
            <a:endParaRPr lang="en-US" sz="1500" dirty="0"/>
          </a:p>
        </p:txBody>
      </p:sp>
      <p:sp>
        <p:nvSpPr>
          <p:cNvPr id="7" name="Text 5"/>
          <p:cNvSpPr/>
          <p:nvPr/>
        </p:nvSpPr>
        <p:spPr>
          <a:xfrm>
            <a:off x="548640" y="1481328"/>
            <a:ext cx="3474720" cy="2697480"/>
          </a:xfrm>
          <a:prstGeom prst="rect">
            <a:avLst/>
          </a:prstGeom>
          <a:noFill/>
          <a:ln/>
        </p:spPr>
        <p:txBody>
          <a:bodyPr wrap="square" rtlCol="0" anchor="ctr"/>
          <a:lstStyle/>
          <a:p>
            <a:pPr marL="0" indent="0" algn="l">
              <a:buNone/>
            </a:pPr>
            <a:r>
              <a:rPr lang="en-US" sz="1300" dirty="0">
                <a:solidFill>
                  <a:srgbClr val="334155"/>
                </a:solidFill>
                <a:latin typeface="Calibri" pitchFamily="34" charset="0"/>
                <a:ea typeface="Calibri" pitchFamily="34" charset="-122"/>
                <a:cs typeface="Calibri" pitchFamily="34" charset="-120"/>
              </a:rPr>
              <a:t>NovaPay is a fictional B2B fintech company offering payment processing and analytics services to enterprise clients.</a:t>
            </a:r>
            <a:endParaRPr lang="en-US" sz="1300" dirty="0"/>
          </a:p>
          <a:p>
            <a:pPr marL="0" indent="0" algn="l">
              <a:buNone/>
            </a:pPr>
            <a:r>
              <a:rPr lang="en-US" sz="1300" dirty="0">
                <a:solidFill>
                  <a:srgbClr val="334155"/>
                </a:solidFill>
                <a:latin typeface="Calibri" pitchFamily="34" charset="0"/>
                <a:ea typeface="Calibri" pitchFamily="34" charset="-122"/>
                <a:cs typeface="Calibri" pitchFamily="34" charset="-120"/>
              </a:rPr>
              <a:t> </a:t>
            </a:r>
            <a:endParaRPr lang="en-US" sz="1300" dirty="0"/>
          </a:p>
          <a:p>
            <a:pPr marL="0" indent="0" algn="l">
              <a:buNone/>
            </a:pPr>
            <a:r>
              <a:rPr lang="en-US" sz="1300" dirty="0">
                <a:solidFill>
                  <a:srgbClr val="334155"/>
                </a:solidFill>
                <a:latin typeface="Calibri" pitchFamily="34" charset="0"/>
                <a:ea typeface="Calibri" pitchFamily="34" charset="-122"/>
                <a:cs typeface="Calibri" pitchFamily="34" charset="-120"/>
              </a:rPr>
              <a:t>Revenue streams include subscription fees, transaction fees, premium analytics, and setup charges.</a:t>
            </a:r>
            <a:endParaRPr lang="en-US" sz="1300" dirty="0"/>
          </a:p>
          <a:p>
            <a:pPr marL="0" indent="0" algn="l">
              <a:buNone/>
            </a:pPr>
            <a:r>
              <a:rPr lang="en-US" sz="1300" dirty="0">
                <a:solidFill>
                  <a:srgbClr val="334155"/>
                </a:solidFill>
                <a:latin typeface="Calibri" pitchFamily="34" charset="0"/>
                <a:ea typeface="Calibri" pitchFamily="34" charset="-122"/>
                <a:cs typeface="Calibri" pitchFamily="34" charset="-120"/>
              </a:rPr>
              <a:t> </a:t>
            </a:r>
            <a:endParaRPr lang="en-US" sz="1300" dirty="0"/>
          </a:p>
          <a:p>
            <a:pPr marL="0" indent="0" algn="l">
              <a:buNone/>
            </a:pPr>
            <a:r>
              <a:rPr lang="en-US" sz="1300" dirty="0">
                <a:solidFill>
                  <a:srgbClr val="334155"/>
                </a:solidFill>
                <a:latin typeface="Calibri" pitchFamily="34" charset="0"/>
                <a:ea typeface="Calibri" pitchFamily="34" charset="-122"/>
                <a:cs typeface="Calibri" pitchFamily="34" charset="-120"/>
              </a:rPr>
              <a:t>Data covers Jan 2024 – Jun 2024, with customer-level revenue and active customer metrics tracked monthly.</a:t>
            </a:r>
            <a:endParaRPr lang="en-US" sz="1300" dirty="0"/>
          </a:p>
        </p:txBody>
      </p:sp>
      <p:sp>
        <p:nvSpPr>
          <p:cNvPr id="8" name="Shape 6"/>
          <p:cNvSpPr/>
          <p:nvPr/>
        </p:nvSpPr>
        <p:spPr>
          <a:xfrm>
            <a:off x="4754880" y="960120"/>
            <a:ext cx="4023360" cy="3520440"/>
          </a:xfrm>
          <a:prstGeom prst="rect">
            <a:avLst/>
          </a:prstGeom>
          <a:solidFill>
            <a:srgbClr val="F0F4F8"/>
          </a:solidFill>
          <a:ln w="12700">
            <a:solidFill>
              <a:srgbClr val="E2E8F0"/>
            </a:solidFill>
            <a:prstDash val="solid"/>
          </a:ln>
        </p:spPr>
        <p:txBody>
          <a:bodyPr/>
          <a:lstStyle/>
          <a:p>
            <a:endParaRPr lang="en-US"/>
          </a:p>
        </p:txBody>
      </p:sp>
      <p:sp>
        <p:nvSpPr>
          <p:cNvPr id="9" name="Shape 7"/>
          <p:cNvSpPr/>
          <p:nvPr/>
        </p:nvSpPr>
        <p:spPr>
          <a:xfrm>
            <a:off x="4754880" y="960120"/>
            <a:ext cx="4023360" cy="54864"/>
          </a:xfrm>
          <a:prstGeom prst="rect">
            <a:avLst/>
          </a:prstGeom>
          <a:solidFill>
            <a:srgbClr val="0D9488"/>
          </a:solidFill>
          <a:ln w="12700">
            <a:solidFill>
              <a:srgbClr val="0D9488"/>
            </a:solidFill>
            <a:prstDash val="solid"/>
          </a:ln>
        </p:spPr>
        <p:txBody>
          <a:bodyPr/>
          <a:lstStyle/>
          <a:p>
            <a:endParaRPr lang="en-US"/>
          </a:p>
        </p:txBody>
      </p:sp>
      <p:sp>
        <p:nvSpPr>
          <p:cNvPr id="10" name="Text 8"/>
          <p:cNvSpPr/>
          <p:nvPr/>
        </p:nvSpPr>
        <p:spPr>
          <a:xfrm>
            <a:off x="4937760" y="1051560"/>
            <a:ext cx="3657600" cy="365760"/>
          </a:xfrm>
          <a:prstGeom prst="rect">
            <a:avLst/>
          </a:prstGeom>
          <a:noFill/>
          <a:ln/>
        </p:spPr>
        <p:txBody>
          <a:bodyPr wrap="square" rtlCol="0" anchor="ctr"/>
          <a:lstStyle/>
          <a:p>
            <a:pPr marL="0" indent="0">
              <a:buNone/>
            </a:pPr>
            <a:r>
              <a:rPr lang="en-US" sz="1500" b="1" dirty="0">
                <a:solidFill>
                  <a:srgbClr val="1B2A4A"/>
                </a:solidFill>
                <a:latin typeface="Calibri" pitchFamily="34" charset="0"/>
                <a:ea typeface="Calibri" pitchFamily="34" charset="-122"/>
                <a:cs typeface="Calibri" pitchFamily="34" charset="-120"/>
              </a:rPr>
              <a:t>What This Project Models</a:t>
            </a:r>
            <a:endParaRPr lang="en-US" sz="1500" dirty="0"/>
          </a:p>
        </p:txBody>
      </p:sp>
      <p:sp>
        <p:nvSpPr>
          <p:cNvPr id="11" name="Text 9"/>
          <p:cNvSpPr/>
          <p:nvPr/>
        </p:nvSpPr>
        <p:spPr>
          <a:xfrm>
            <a:off x="4937760" y="1508760"/>
            <a:ext cx="3566160" cy="2743200"/>
          </a:xfrm>
          <a:prstGeom prst="rect">
            <a:avLst/>
          </a:prstGeom>
          <a:noFill/>
          <a:ln/>
        </p:spPr>
        <p:txBody>
          <a:bodyPr wrap="square" rtlCol="0" anchor="ctr"/>
          <a:lstStyle/>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Revenue growth tracking by stream</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Budget vs. actual variance analysis</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Operating expense monitoring</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EBITDA &amp; gross margin profitability</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Churn rate &amp; CAC risk assessment</a:t>
            </a:r>
            <a:endParaRPr lang="en-US" sz="1300" dirty="0"/>
          </a:p>
          <a:p>
            <a:pPr marL="342900" indent="-342900">
              <a:buSzPct val="100000"/>
              <a:buChar char="•"/>
            </a:pPr>
            <a:r>
              <a:rPr lang="en-US" sz="1300" dirty="0">
                <a:solidFill>
                  <a:srgbClr val="334155"/>
                </a:solidFill>
                <a:latin typeface="Calibri" pitchFamily="34" charset="0"/>
                <a:ea typeface="Calibri" pitchFamily="34" charset="-122"/>
                <a:cs typeface="Calibri" pitchFamily="34" charset="-120"/>
              </a:rPr>
              <a:t>Three-scenario financial forecasting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Business Problem</a:t>
            </a:r>
            <a:endParaRPr lang="en-US" sz="2400" dirty="0"/>
          </a:p>
        </p:txBody>
      </p:sp>
      <p:sp>
        <p:nvSpPr>
          <p:cNvPr id="4" name="Shape 2"/>
          <p:cNvSpPr/>
          <p:nvPr/>
        </p:nvSpPr>
        <p:spPr>
          <a:xfrm>
            <a:off x="365760" y="960120"/>
            <a:ext cx="8412480" cy="731520"/>
          </a:xfrm>
          <a:prstGeom prst="rect">
            <a:avLst/>
          </a:prstGeom>
          <a:solidFill>
            <a:srgbClr val="1B2A4A"/>
          </a:solidFill>
          <a:ln w="12700">
            <a:solidFill>
              <a:srgbClr val="1B2A4A"/>
            </a:solidFill>
            <a:prstDash val="solid"/>
          </a:ln>
        </p:spPr>
        <p:txBody>
          <a:bodyPr/>
          <a:lstStyle/>
          <a:p>
            <a:endParaRPr lang="en-US"/>
          </a:p>
        </p:txBody>
      </p:sp>
      <p:sp>
        <p:nvSpPr>
          <p:cNvPr id="5" name="Text 3"/>
          <p:cNvSpPr/>
          <p:nvPr/>
        </p:nvSpPr>
        <p:spPr>
          <a:xfrm>
            <a:off x="548640" y="1024128"/>
            <a:ext cx="8046720" cy="594360"/>
          </a:xfrm>
          <a:prstGeom prst="rect">
            <a:avLst/>
          </a:prstGeom>
          <a:noFill/>
          <a:ln/>
        </p:spPr>
        <p:txBody>
          <a:bodyPr wrap="square" rtlCol="0" anchor="ctr"/>
          <a:lstStyle/>
          <a:p>
            <a:pPr marL="0" indent="0" algn="l">
              <a:buNone/>
            </a:pPr>
            <a:r>
              <a:rPr lang="en-US" sz="1400" i="1" dirty="0">
                <a:solidFill>
                  <a:srgbClr val="FFFFFF"/>
                </a:solidFill>
                <a:latin typeface="Calibri" pitchFamily="34" charset="0"/>
                <a:ea typeface="Calibri" pitchFamily="34" charset="-122"/>
                <a:cs typeface="Calibri" pitchFamily="34" charset="-120"/>
              </a:rPr>
              <a:t>Leadership lacked a single source of truth for financial performance across revenue, costs, customers, and profitability.</a:t>
            </a:r>
            <a:endParaRPr lang="en-US" sz="1400" dirty="0"/>
          </a:p>
        </p:txBody>
      </p:sp>
      <p:sp>
        <p:nvSpPr>
          <p:cNvPr id="6" name="Shape 4"/>
          <p:cNvSpPr/>
          <p:nvPr/>
        </p:nvSpPr>
        <p:spPr>
          <a:xfrm>
            <a:off x="365760" y="1920240"/>
            <a:ext cx="2697480" cy="1234440"/>
          </a:xfrm>
          <a:prstGeom prst="rect">
            <a:avLst/>
          </a:prstGeom>
          <a:solidFill>
            <a:srgbClr val="F0F4F8"/>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7" name="Shape 5"/>
          <p:cNvSpPr/>
          <p:nvPr/>
        </p:nvSpPr>
        <p:spPr>
          <a:xfrm>
            <a:off x="365760" y="1920240"/>
            <a:ext cx="64008" cy="1234440"/>
          </a:xfrm>
          <a:prstGeom prst="rect">
            <a:avLst/>
          </a:prstGeom>
          <a:solidFill>
            <a:srgbClr val="0D9488"/>
          </a:solidFill>
          <a:ln w="12700">
            <a:solidFill>
              <a:srgbClr val="0D9488"/>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521208" y="2029968"/>
            <a:ext cx="292608" cy="292608"/>
          </a:xfrm>
          <a:prstGeom prst="rect">
            <a:avLst/>
          </a:prstGeom>
        </p:spPr>
      </p:pic>
      <p:sp>
        <p:nvSpPr>
          <p:cNvPr id="9" name="Shape 6"/>
          <p:cNvSpPr/>
          <p:nvPr/>
        </p:nvSpPr>
        <p:spPr>
          <a:xfrm>
            <a:off x="493776" y="2002536"/>
            <a:ext cx="347472" cy="347472"/>
          </a:xfrm>
          <a:prstGeom prst="ellipse">
            <a:avLst/>
          </a:prstGeom>
          <a:solidFill>
            <a:srgbClr val="0D9488"/>
          </a:solidFill>
          <a:ln w="12700">
            <a:solidFill>
              <a:srgbClr val="0D9488"/>
            </a:solidFill>
            <a:prstDash val="solid"/>
          </a:ln>
        </p:spPr>
        <p:txBody>
          <a:bodyPr/>
          <a:lstStyle/>
          <a:p>
            <a:endParaRPr lang="en-US"/>
          </a:p>
        </p:txBody>
      </p:sp>
      <p:pic>
        <p:nvPicPr>
          <p:cNvPr id="10" name="Image 1" descr="preencoded.png"/>
          <p:cNvPicPr>
            <a:picLocks noChangeAspect="1"/>
          </p:cNvPicPr>
          <p:nvPr/>
        </p:nvPicPr>
        <p:blipFill>
          <a:blip r:embed="rId3"/>
          <a:stretch>
            <a:fillRect/>
          </a:stretch>
        </p:blipFill>
        <p:spPr>
          <a:xfrm>
            <a:off x="530352" y="2039112"/>
            <a:ext cx="274320" cy="274320"/>
          </a:xfrm>
          <a:prstGeom prst="rect">
            <a:avLst/>
          </a:prstGeom>
        </p:spPr>
      </p:pic>
      <p:sp>
        <p:nvSpPr>
          <p:cNvPr id="11" name="Text 7"/>
          <p:cNvSpPr/>
          <p:nvPr/>
        </p:nvSpPr>
        <p:spPr>
          <a:xfrm>
            <a:off x="932688" y="1993392"/>
            <a:ext cx="2084832" cy="347472"/>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No Revenue Visibility</a:t>
            </a:r>
            <a:endParaRPr lang="en-US" sz="1200" dirty="0"/>
          </a:p>
        </p:txBody>
      </p:sp>
      <p:sp>
        <p:nvSpPr>
          <p:cNvPr id="12" name="Text 8"/>
          <p:cNvSpPr/>
          <p:nvPr/>
        </p:nvSpPr>
        <p:spPr>
          <a:xfrm>
            <a:off x="932688" y="2340864"/>
            <a:ext cx="2084832" cy="68580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Revenue by stream tracked manually; no month-over-month trend available</a:t>
            </a:r>
            <a:endParaRPr lang="en-US" sz="1050" dirty="0"/>
          </a:p>
        </p:txBody>
      </p:sp>
      <p:sp>
        <p:nvSpPr>
          <p:cNvPr id="13" name="Shape 9"/>
          <p:cNvSpPr/>
          <p:nvPr/>
        </p:nvSpPr>
        <p:spPr>
          <a:xfrm>
            <a:off x="3246120" y="1920240"/>
            <a:ext cx="2697480" cy="1234440"/>
          </a:xfrm>
          <a:prstGeom prst="rect">
            <a:avLst/>
          </a:prstGeom>
          <a:solidFill>
            <a:srgbClr val="F0F4F8"/>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14" name="Shape 10"/>
          <p:cNvSpPr/>
          <p:nvPr/>
        </p:nvSpPr>
        <p:spPr>
          <a:xfrm>
            <a:off x="3246120" y="1920240"/>
            <a:ext cx="64008" cy="1234440"/>
          </a:xfrm>
          <a:prstGeom prst="rect">
            <a:avLst/>
          </a:prstGeom>
          <a:solidFill>
            <a:srgbClr val="0D9488"/>
          </a:solidFill>
          <a:ln w="12700">
            <a:solidFill>
              <a:srgbClr val="0D9488"/>
            </a:solidFill>
            <a:prstDash val="solid"/>
          </a:ln>
        </p:spPr>
        <p:txBody>
          <a:bodyPr/>
          <a:lstStyle/>
          <a:p>
            <a:endParaRPr lang="en-US"/>
          </a:p>
        </p:txBody>
      </p:sp>
      <p:pic>
        <p:nvPicPr>
          <p:cNvPr id="15" name="Image 2" descr="preencoded.png"/>
          <p:cNvPicPr>
            <a:picLocks noChangeAspect="1"/>
          </p:cNvPicPr>
          <p:nvPr/>
        </p:nvPicPr>
        <p:blipFill>
          <a:blip r:embed="rId4"/>
          <a:stretch>
            <a:fillRect/>
          </a:stretch>
        </p:blipFill>
        <p:spPr>
          <a:xfrm>
            <a:off x="3401568" y="2029968"/>
            <a:ext cx="292608" cy="292608"/>
          </a:xfrm>
          <a:prstGeom prst="rect">
            <a:avLst/>
          </a:prstGeom>
        </p:spPr>
      </p:pic>
      <p:sp>
        <p:nvSpPr>
          <p:cNvPr id="16" name="Shape 11"/>
          <p:cNvSpPr/>
          <p:nvPr/>
        </p:nvSpPr>
        <p:spPr>
          <a:xfrm>
            <a:off x="3374136" y="2002536"/>
            <a:ext cx="347472" cy="347472"/>
          </a:xfrm>
          <a:prstGeom prst="ellipse">
            <a:avLst/>
          </a:prstGeom>
          <a:solidFill>
            <a:srgbClr val="0D9488"/>
          </a:solidFill>
          <a:ln w="12700">
            <a:solidFill>
              <a:srgbClr val="0D9488"/>
            </a:solidFill>
            <a:prstDash val="solid"/>
          </a:ln>
        </p:spPr>
        <p:txBody>
          <a:bodyPr/>
          <a:lstStyle/>
          <a:p>
            <a:endParaRPr lang="en-US"/>
          </a:p>
        </p:txBody>
      </p:sp>
      <p:pic>
        <p:nvPicPr>
          <p:cNvPr id="17" name="Image 3" descr="preencoded.png"/>
          <p:cNvPicPr>
            <a:picLocks noChangeAspect="1"/>
          </p:cNvPicPr>
          <p:nvPr/>
        </p:nvPicPr>
        <p:blipFill>
          <a:blip r:embed="rId4"/>
          <a:stretch>
            <a:fillRect/>
          </a:stretch>
        </p:blipFill>
        <p:spPr>
          <a:xfrm>
            <a:off x="3410712" y="2039112"/>
            <a:ext cx="274320" cy="274320"/>
          </a:xfrm>
          <a:prstGeom prst="rect">
            <a:avLst/>
          </a:prstGeom>
        </p:spPr>
      </p:pic>
      <p:sp>
        <p:nvSpPr>
          <p:cNvPr id="18" name="Text 12"/>
          <p:cNvSpPr/>
          <p:nvPr/>
        </p:nvSpPr>
        <p:spPr>
          <a:xfrm>
            <a:off x="3813048" y="1993392"/>
            <a:ext cx="2084832" cy="347472"/>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Cost Overruns Undetected</a:t>
            </a:r>
            <a:endParaRPr lang="en-US" sz="1200" dirty="0"/>
          </a:p>
        </p:txBody>
      </p:sp>
      <p:sp>
        <p:nvSpPr>
          <p:cNvPr id="19" name="Text 13"/>
          <p:cNvSpPr/>
          <p:nvPr/>
        </p:nvSpPr>
        <p:spPr>
          <a:xfrm>
            <a:off x="3813048" y="2340864"/>
            <a:ext cx="2084832" cy="68580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Expense variances vs. budget surfaced only at quarter-end</a:t>
            </a:r>
            <a:endParaRPr lang="en-US" sz="1050" dirty="0"/>
          </a:p>
        </p:txBody>
      </p:sp>
      <p:sp>
        <p:nvSpPr>
          <p:cNvPr id="20" name="Shape 14"/>
          <p:cNvSpPr/>
          <p:nvPr/>
        </p:nvSpPr>
        <p:spPr>
          <a:xfrm>
            <a:off x="6126480" y="1920240"/>
            <a:ext cx="2697480" cy="1234440"/>
          </a:xfrm>
          <a:prstGeom prst="rect">
            <a:avLst/>
          </a:prstGeom>
          <a:solidFill>
            <a:srgbClr val="F0F4F8"/>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21" name="Shape 15"/>
          <p:cNvSpPr/>
          <p:nvPr/>
        </p:nvSpPr>
        <p:spPr>
          <a:xfrm>
            <a:off x="6126480" y="1920240"/>
            <a:ext cx="64008" cy="1234440"/>
          </a:xfrm>
          <a:prstGeom prst="rect">
            <a:avLst/>
          </a:prstGeom>
          <a:solidFill>
            <a:srgbClr val="0D9488"/>
          </a:solidFill>
          <a:ln w="12700">
            <a:solidFill>
              <a:srgbClr val="0D9488"/>
            </a:solidFill>
            <a:prstDash val="solid"/>
          </a:ln>
        </p:spPr>
        <p:txBody>
          <a:bodyPr/>
          <a:lstStyle/>
          <a:p>
            <a:endParaRPr lang="en-US"/>
          </a:p>
        </p:txBody>
      </p:sp>
      <p:pic>
        <p:nvPicPr>
          <p:cNvPr id="22" name="Image 4" descr="preencoded.png"/>
          <p:cNvPicPr>
            <a:picLocks noChangeAspect="1"/>
          </p:cNvPicPr>
          <p:nvPr/>
        </p:nvPicPr>
        <p:blipFill>
          <a:blip r:embed="rId5"/>
          <a:stretch>
            <a:fillRect/>
          </a:stretch>
        </p:blipFill>
        <p:spPr>
          <a:xfrm>
            <a:off x="6281928" y="2029968"/>
            <a:ext cx="292608" cy="292608"/>
          </a:xfrm>
          <a:prstGeom prst="rect">
            <a:avLst/>
          </a:prstGeom>
        </p:spPr>
      </p:pic>
      <p:sp>
        <p:nvSpPr>
          <p:cNvPr id="23" name="Shape 16"/>
          <p:cNvSpPr/>
          <p:nvPr/>
        </p:nvSpPr>
        <p:spPr>
          <a:xfrm>
            <a:off x="6254496" y="2002536"/>
            <a:ext cx="347472" cy="347472"/>
          </a:xfrm>
          <a:prstGeom prst="ellipse">
            <a:avLst/>
          </a:prstGeom>
          <a:solidFill>
            <a:srgbClr val="0D9488"/>
          </a:solidFill>
          <a:ln w="12700">
            <a:solidFill>
              <a:srgbClr val="0D9488"/>
            </a:solidFill>
            <a:prstDash val="solid"/>
          </a:ln>
        </p:spPr>
        <p:txBody>
          <a:bodyPr/>
          <a:lstStyle/>
          <a:p>
            <a:endParaRPr lang="en-US"/>
          </a:p>
        </p:txBody>
      </p:sp>
      <p:pic>
        <p:nvPicPr>
          <p:cNvPr id="24" name="Image 5" descr="preencoded.png"/>
          <p:cNvPicPr>
            <a:picLocks noChangeAspect="1"/>
          </p:cNvPicPr>
          <p:nvPr/>
        </p:nvPicPr>
        <p:blipFill>
          <a:blip r:embed="rId5"/>
          <a:stretch>
            <a:fillRect/>
          </a:stretch>
        </p:blipFill>
        <p:spPr>
          <a:xfrm>
            <a:off x="6291072" y="2039112"/>
            <a:ext cx="274320" cy="274320"/>
          </a:xfrm>
          <a:prstGeom prst="rect">
            <a:avLst/>
          </a:prstGeom>
        </p:spPr>
      </p:pic>
      <p:sp>
        <p:nvSpPr>
          <p:cNvPr id="25" name="Text 17"/>
          <p:cNvSpPr/>
          <p:nvPr/>
        </p:nvSpPr>
        <p:spPr>
          <a:xfrm>
            <a:off x="6693408" y="1993392"/>
            <a:ext cx="2084832" cy="347472"/>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EBITDA Declining</a:t>
            </a:r>
            <a:endParaRPr lang="en-US" sz="1200" dirty="0"/>
          </a:p>
        </p:txBody>
      </p:sp>
      <p:sp>
        <p:nvSpPr>
          <p:cNvPr id="26" name="Text 18"/>
          <p:cNvSpPr/>
          <p:nvPr/>
        </p:nvSpPr>
        <p:spPr>
          <a:xfrm>
            <a:off x="6693408" y="2340864"/>
            <a:ext cx="2084832" cy="68580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Operating costs rising faster than revenue; margin pressure building</a:t>
            </a:r>
            <a:endParaRPr lang="en-US" sz="1050" dirty="0"/>
          </a:p>
        </p:txBody>
      </p:sp>
      <p:sp>
        <p:nvSpPr>
          <p:cNvPr id="27" name="Shape 19"/>
          <p:cNvSpPr/>
          <p:nvPr/>
        </p:nvSpPr>
        <p:spPr>
          <a:xfrm>
            <a:off x="365760" y="3337560"/>
            <a:ext cx="2697480" cy="1234440"/>
          </a:xfrm>
          <a:prstGeom prst="rect">
            <a:avLst/>
          </a:prstGeom>
          <a:solidFill>
            <a:srgbClr val="F0F4F8"/>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28" name="Shape 20"/>
          <p:cNvSpPr/>
          <p:nvPr/>
        </p:nvSpPr>
        <p:spPr>
          <a:xfrm>
            <a:off x="365760" y="3337560"/>
            <a:ext cx="64008" cy="1234440"/>
          </a:xfrm>
          <a:prstGeom prst="rect">
            <a:avLst/>
          </a:prstGeom>
          <a:solidFill>
            <a:srgbClr val="0D9488"/>
          </a:solidFill>
          <a:ln w="12700">
            <a:solidFill>
              <a:srgbClr val="0D9488"/>
            </a:solidFill>
            <a:prstDash val="solid"/>
          </a:ln>
        </p:spPr>
        <p:txBody>
          <a:bodyPr/>
          <a:lstStyle/>
          <a:p>
            <a:endParaRPr lang="en-US"/>
          </a:p>
        </p:txBody>
      </p:sp>
      <p:pic>
        <p:nvPicPr>
          <p:cNvPr id="29" name="Image 6" descr="preencoded.png"/>
          <p:cNvPicPr>
            <a:picLocks noChangeAspect="1"/>
          </p:cNvPicPr>
          <p:nvPr/>
        </p:nvPicPr>
        <p:blipFill>
          <a:blip r:embed="rId6"/>
          <a:stretch>
            <a:fillRect/>
          </a:stretch>
        </p:blipFill>
        <p:spPr>
          <a:xfrm>
            <a:off x="521208" y="3447288"/>
            <a:ext cx="292608" cy="292608"/>
          </a:xfrm>
          <a:prstGeom prst="rect">
            <a:avLst/>
          </a:prstGeom>
        </p:spPr>
      </p:pic>
      <p:sp>
        <p:nvSpPr>
          <p:cNvPr id="30" name="Shape 21"/>
          <p:cNvSpPr/>
          <p:nvPr/>
        </p:nvSpPr>
        <p:spPr>
          <a:xfrm>
            <a:off x="493776" y="3419856"/>
            <a:ext cx="347472" cy="347472"/>
          </a:xfrm>
          <a:prstGeom prst="ellipse">
            <a:avLst/>
          </a:prstGeom>
          <a:solidFill>
            <a:srgbClr val="0D9488"/>
          </a:solidFill>
          <a:ln w="12700">
            <a:solidFill>
              <a:srgbClr val="0D9488"/>
            </a:solidFill>
            <a:prstDash val="solid"/>
          </a:ln>
        </p:spPr>
        <p:txBody>
          <a:bodyPr/>
          <a:lstStyle/>
          <a:p>
            <a:endParaRPr lang="en-US"/>
          </a:p>
        </p:txBody>
      </p:sp>
      <p:pic>
        <p:nvPicPr>
          <p:cNvPr id="31" name="Image 7" descr="preencoded.png"/>
          <p:cNvPicPr>
            <a:picLocks noChangeAspect="1"/>
          </p:cNvPicPr>
          <p:nvPr/>
        </p:nvPicPr>
        <p:blipFill>
          <a:blip r:embed="rId6"/>
          <a:stretch>
            <a:fillRect/>
          </a:stretch>
        </p:blipFill>
        <p:spPr>
          <a:xfrm>
            <a:off x="530352" y="3456432"/>
            <a:ext cx="274320" cy="274320"/>
          </a:xfrm>
          <a:prstGeom prst="rect">
            <a:avLst/>
          </a:prstGeom>
        </p:spPr>
      </p:pic>
      <p:sp>
        <p:nvSpPr>
          <p:cNvPr id="32" name="Text 22"/>
          <p:cNvSpPr/>
          <p:nvPr/>
        </p:nvSpPr>
        <p:spPr>
          <a:xfrm>
            <a:off x="932688" y="3410712"/>
            <a:ext cx="2084832" cy="347472"/>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Churn Not Monitored</a:t>
            </a:r>
            <a:endParaRPr lang="en-US" sz="1200" dirty="0"/>
          </a:p>
        </p:txBody>
      </p:sp>
      <p:sp>
        <p:nvSpPr>
          <p:cNvPr id="33" name="Text 23"/>
          <p:cNvSpPr/>
          <p:nvPr/>
        </p:nvSpPr>
        <p:spPr>
          <a:xfrm>
            <a:off x="932688" y="3758184"/>
            <a:ext cx="2084832" cy="68580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Customer attrition tracked inconsistently; no risk-flagging in place</a:t>
            </a:r>
            <a:endParaRPr lang="en-US" sz="1050" dirty="0"/>
          </a:p>
        </p:txBody>
      </p:sp>
      <p:sp>
        <p:nvSpPr>
          <p:cNvPr id="34" name="Shape 24"/>
          <p:cNvSpPr/>
          <p:nvPr/>
        </p:nvSpPr>
        <p:spPr>
          <a:xfrm>
            <a:off x="3246120" y="3337560"/>
            <a:ext cx="2697480" cy="1234440"/>
          </a:xfrm>
          <a:prstGeom prst="rect">
            <a:avLst/>
          </a:prstGeom>
          <a:solidFill>
            <a:srgbClr val="F0F4F8"/>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35" name="Shape 25"/>
          <p:cNvSpPr/>
          <p:nvPr/>
        </p:nvSpPr>
        <p:spPr>
          <a:xfrm>
            <a:off x="3246120" y="3337560"/>
            <a:ext cx="64008" cy="1234440"/>
          </a:xfrm>
          <a:prstGeom prst="rect">
            <a:avLst/>
          </a:prstGeom>
          <a:solidFill>
            <a:srgbClr val="0D9488"/>
          </a:solidFill>
          <a:ln w="12700">
            <a:solidFill>
              <a:srgbClr val="0D9488"/>
            </a:solidFill>
            <a:prstDash val="solid"/>
          </a:ln>
        </p:spPr>
        <p:txBody>
          <a:bodyPr/>
          <a:lstStyle/>
          <a:p>
            <a:endParaRPr lang="en-US"/>
          </a:p>
        </p:txBody>
      </p:sp>
      <p:pic>
        <p:nvPicPr>
          <p:cNvPr id="36" name="Image 8" descr="preencoded.png"/>
          <p:cNvPicPr>
            <a:picLocks noChangeAspect="1"/>
          </p:cNvPicPr>
          <p:nvPr/>
        </p:nvPicPr>
        <p:blipFill>
          <a:blip r:embed="rId7"/>
          <a:stretch>
            <a:fillRect/>
          </a:stretch>
        </p:blipFill>
        <p:spPr>
          <a:xfrm>
            <a:off x="3401568" y="3447288"/>
            <a:ext cx="292608" cy="292608"/>
          </a:xfrm>
          <a:prstGeom prst="rect">
            <a:avLst/>
          </a:prstGeom>
        </p:spPr>
      </p:pic>
      <p:sp>
        <p:nvSpPr>
          <p:cNvPr id="37" name="Shape 26"/>
          <p:cNvSpPr/>
          <p:nvPr/>
        </p:nvSpPr>
        <p:spPr>
          <a:xfrm>
            <a:off x="3374136" y="3419856"/>
            <a:ext cx="347472" cy="347472"/>
          </a:xfrm>
          <a:prstGeom prst="ellipse">
            <a:avLst/>
          </a:prstGeom>
          <a:solidFill>
            <a:srgbClr val="0D9488"/>
          </a:solidFill>
          <a:ln w="12700">
            <a:solidFill>
              <a:srgbClr val="0D9488"/>
            </a:solidFill>
            <a:prstDash val="solid"/>
          </a:ln>
        </p:spPr>
        <p:txBody>
          <a:bodyPr/>
          <a:lstStyle/>
          <a:p>
            <a:endParaRPr lang="en-US"/>
          </a:p>
        </p:txBody>
      </p:sp>
      <p:pic>
        <p:nvPicPr>
          <p:cNvPr id="38" name="Image 9" descr="preencoded.png"/>
          <p:cNvPicPr>
            <a:picLocks noChangeAspect="1"/>
          </p:cNvPicPr>
          <p:nvPr/>
        </p:nvPicPr>
        <p:blipFill>
          <a:blip r:embed="rId7"/>
          <a:stretch>
            <a:fillRect/>
          </a:stretch>
        </p:blipFill>
        <p:spPr>
          <a:xfrm>
            <a:off x="3410712" y="3456432"/>
            <a:ext cx="274320" cy="274320"/>
          </a:xfrm>
          <a:prstGeom prst="rect">
            <a:avLst/>
          </a:prstGeom>
        </p:spPr>
      </p:pic>
      <p:sp>
        <p:nvSpPr>
          <p:cNvPr id="39" name="Text 27"/>
          <p:cNvSpPr/>
          <p:nvPr/>
        </p:nvSpPr>
        <p:spPr>
          <a:xfrm>
            <a:off x="3813048" y="3410712"/>
            <a:ext cx="2084832" cy="347472"/>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CAC Efficiency Unknown</a:t>
            </a:r>
            <a:endParaRPr lang="en-US" sz="1200" dirty="0"/>
          </a:p>
        </p:txBody>
      </p:sp>
      <p:sp>
        <p:nvSpPr>
          <p:cNvPr id="40" name="Text 28"/>
          <p:cNvSpPr/>
          <p:nvPr/>
        </p:nvSpPr>
        <p:spPr>
          <a:xfrm>
            <a:off x="3813048" y="3758184"/>
            <a:ext cx="2084832" cy="68580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No view on customer acquisition cost vs. lifetime value</a:t>
            </a:r>
            <a:endParaRPr lang="en-US" sz="1050" dirty="0"/>
          </a:p>
        </p:txBody>
      </p:sp>
      <p:sp>
        <p:nvSpPr>
          <p:cNvPr id="41" name="Shape 29"/>
          <p:cNvSpPr/>
          <p:nvPr/>
        </p:nvSpPr>
        <p:spPr>
          <a:xfrm>
            <a:off x="6126480" y="3337560"/>
            <a:ext cx="2697480" cy="1234440"/>
          </a:xfrm>
          <a:prstGeom prst="rect">
            <a:avLst/>
          </a:prstGeom>
          <a:solidFill>
            <a:srgbClr val="F0F4F8"/>
          </a:solidFill>
          <a:ln w="12700">
            <a:solidFill>
              <a:srgbClr val="E2E8F0"/>
            </a:solidFill>
            <a:prstDash val="solid"/>
          </a:ln>
          <a:effectLst>
            <a:outerShdw blurRad="50800" dist="12700" dir="8100000" algn="bl" rotWithShape="0">
              <a:srgbClr val="000000">
                <a:alpha val="7000"/>
              </a:srgbClr>
            </a:outerShdw>
          </a:effectLst>
        </p:spPr>
        <p:txBody>
          <a:bodyPr/>
          <a:lstStyle/>
          <a:p>
            <a:endParaRPr lang="en-US"/>
          </a:p>
        </p:txBody>
      </p:sp>
      <p:sp>
        <p:nvSpPr>
          <p:cNvPr id="42" name="Shape 30"/>
          <p:cNvSpPr/>
          <p:nvPr/>
        </p:nvSpPr>
        <p:spPr>
          <a:xfrm>
            <a:off x="6126480" y="3337560"/>
            <a:ext cx="64008" cy="1234440"/>
          </a:xfrm>
          <a:prstGeom prst="rect">
            <a:avLst/>
          </a:prstGeom>
          <a:solidFill>
            <a:srgbClr val="0D9488"/>
          </a:solidFill>
          <a:ln w="12700">
            <a:solidFill>
              <a:srgbClr val="0D9488"/>
            </a:solidFill>
            <a:prstDash val="solid"/>
          </a:ln>
        </p:spPr>
        <p:txBody>
          <a:bodyPr/>
          <a:lstStyle/>
          <a:p>
            <a:endParaRPr lang="en-US"/>
          </a:p>
        </p:txBody>
      </p:sp>
      <p:pic>
        <p:nvPicPr>
          <p:cNvPr id="43" name="Image 10" descr="preencoded.png"/>
          <p:cNvPicPr>
            <a:picLocks noChangeAspect="1"/>
          </p:cNvPicPr>
          <p:nvPr/>
        </p:nvPicPr>
        <p:blipFill>
          <a:blip r:embed="rId8"/>
          <a:stretch>
            <a:fillRect/>
          </a:stretch>
        </p:blipFill>
        <p:spPr>
          <a:xfrm>
            <a:off x="6281928" y="3447288"/>
            <a:ext cx="292608" cy="292608"/>
          </a:xfrm>
          <a:prstGeom prst="rect">
            <a:avLst/>
          </a:prstGeom>
        </p:spPr>
      </p:pic>
      <p:sp>
        <p:nvSpPr>
          <p:cNvPr id="44" name="Shape 31"/>
          <p:cNvSpPr/>
          <p:nvPr/>
        </p:nvSpPr>
        <p:spPr>
          <a:xfrm>
            <a:off x="6254496" y="3419856"/>
            <a:ext cx="347472" cy="347472"/>
          </a:xfrm>
          <a:prstGeom prst="ellipse">
            <a:avLst/>
          </a:prstGeom>
          <a:solidFill>
            <a:srgbClr val="0D9488"/>
          </a:solidFill>
          <a:ln w="12700">
            <a:solidFill>
              <a:srgbClr val="0D9488"/>
            </a:solidFill>
            <a:prstDash val="solid"/>
          </a:ln>
        </p:spPr>
        <p:txBody>
          <a:bodyPr/>
          <a:lstStyle/>
          <a:p>
            <a:endParaRPr lang="en-US"/>
          </a:p>
        </p:txBody>
      </p:sp>
      <p:pic>
        <p:nvPicPr>
          <p:cNvPr id="45" name="Image 11" descr="preencoded.png"/>
          <p:cNvPicPr>
            <a:picLocks noChangeAspect="1"/>
          </p:cNvPicPr>
          <p:nvPr/>
        </p:nvPicPr>
        <p:blipFill>
          <a:blip r:embed="rId8"/>
          <a:stretch>
            <a:fillRect/>
          </a:stretch>
        </p:blipFill>
        <p:spPr>
          <a:xfrm>
            <a:off x="6291072" y="3456432"/>
            <a:ext cx="274320" cy="274320"/>
          </a:xfrm>
          <a:prstGeom prst="rect">
            <a:avLst/>
          </a:prstGeom>
        </p:spPr>
      </p:pic>
      <p:sp>
        <p:nvSpPr>
          <p:cNvPr id="46" name="Text 32"/>
          <p:cNvSpPr/>
          <p:nvPr/>
        </p:nvSpPr>
        <p:spPr>
          <a:xfrm>
            <a:off x="6693408" y="3410712"/>
            <a:ext cx="2084832" cy="347472"/>
          </a:xfrm>
          <a:prstGeom prst="rect">
            <a:avLst/>
          </a:prstGeom>
          <a:noFill/>
          <a:ln/>
        </p:spPr>
        <p:txBody>
          <a:bodyPr wrap="square" rtlCol="0" anchor="ctr"/>
          <a:lstStyle/>
          <a:p>
            <a:pPr marL="0" indent="0">
              <a:buNone/>
            </a:pPr>
            <a:r>
              <a:rPr lang="en-US" sz="1200" b="1" dirty="0">
                <a:solidFill>
                  <a:srgbClr val="1B2A4A"/>
                </a:solidFill>
                <a:latin typeface="Calibri" pitchFamily="34" charset="0"/>
                <a:ea typeface="Calibri" pitchFamily="34" charset="-122"/>
                <a:cs typeface="Calibri" pitchFamily="34" charset="-120"/>
              </a:rPr>
              <a:t>Fragmented Reporting</a:t>
            </a:r>
            <a:endParaRPr lang="en-US" sz="1200" dirty="0"/>
          </a:p>
        </p:txBody>
      </p:sp>
      <p:sp>
        <p:nvSpPr>
          <p:cNvPr id="47" name="Text 33"/>
          <p:cNvSpPr/>
          <p:nvPr/>
        </p:nvSpPr>
        <p:spPr>
          <a:xfrm>
            <a:off x="6693408" y="3758184"/>
            <a:ext cx="2084832" cy="68580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Finance, ops, and executive teams working from different data sources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Tools &amp; Workflow</a:t>
            </a:r>
            <a:endParaRPr lang="en-US" sz="2400" dirty="0"/>
          </a:p>
        </p:txBody>
      </p:sp>
      <p:sp>
        <p:nvSpPr>
          <p:cNvPr id="4" name="Shape 2"/>
          <p:cNvSpPr/>
          <p:nvPr/>
        </p:nvSpPr>
        <p:spPr>
          <a:xfrm>
            <a:off x="548640" y="1005840"/>
            <a:ext cx="1463040" cy="3291840"/>
          </a:xfrm>
          <a:prstGeom prst="rect">
            <a:avLst/>
          </a:prstGeom>
          <a:solidFill>
            <a:srgbClr val="1B2A4A"/>
          </a:solidFill>
          <a:ln w="12700">
            <a:solidFill>
              <a:srgbClr val="1B2A4A"/>
            </a:solidFill>
            <a:prstDash val="solid"/>
          </a:ln>
          <a:effectLst>
            <a:outerShdw blurRad="101600" dist="25400" dir="8100000" algn="bl" rotWithShape="0">
              <a:srgbClr val="000000">
                <a:alpha val="15000"/>
              </a:srgbClr>
            </a:outerShdw>
          </a:effectLst>
        </p:spPr>
        <p:txBody>
          <a:bodyPr/>
          <a:lstStyle/>
          <a:p>
            <a:endParaRPr lang="en-US"/>
          </a:p>
        </p:txBody>
      </p:sp>
      <p:sp>
        <p:nvSpPr>
          <p:cNvPr id="5" name="Shape 3"/>
          <p:cNvSpPr/>
          <p:nvPr/>
        </p:nvSpPr>
        <p:spPr>
          <a:xfrm>
            <a:off x="548640" y="1005840"/>
            <a:ext cx="1463040" cy="54864"/>
          </a:xfrm>
          <a:prstGeom prst="rect">
            <a:avLst/>
          </a:prstGeom>
          <a:solidFill>
            <a:srgbClr val="1B6F3A"/>
          </a:solidFill>
          <a:ln w="12700">
            <a:solidFill>
              <a:srgbClr val="1B6F3A"/>
            </a:solidFill>
            <a:prstDash val="solid"/>
          </a:ln>
        </p:spPr>
        <p:txBody>
          <a:bodyPr/>
          <a:lstStyle/>
          <a:p>
            <a:endParaRPr lang="en-US"/>
          </a:p>
        </p:txBody>
      </p:sp>
      <p:sp>
        <p:nvSpPr>
          <p:cNvPr id="6" name="Shape 4"/>
          <p:cNvSpPr/>
          <p:nvPr/>
        </p:nvSpPr>
        <p:spPr>
          <a:xfrm>
            <a:off x="960120" y="1188720"/>
            <a:ext cx="640080" cy="640080"/>
          </a:xfrm>
          <a:prstGeom prst="ellipse">
            <a:avLst/>
          </a:prstGeom>
          <a:solidFill>
            <a:srgbClr val="1B6F3A"/>
          </a:solidFill>
          <a:ln w="12700">
            <a:solidFill>
              <a:srgbClr val="1B6F3A"/>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51560" y="1280160"/>
            <a:ext cx="457200" cy="457200"/>
          </a:xfrm>
          <a:prstGeom prst="rect">
            <a:avLst/>
          </a:prstGeom>
        </p:spPr>
      </p:pic>
      <p:sp>
        <p:nvSpPr>
          <p:cNvPr id="8" name="Text 5"/>
          <p:cNvSpPr/>
          <p:nvPr/>
        </p:nvSpPr>
        <p:spPr>
          <a:xfrm>
            <a:off x="594360" y="1965960"/>
            <a:ext cx="137160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Excel</a:t>
            </a:r>
            <a:endParaRPr lang="en-US" sz="1600" dirty="0"/>
          </a:p>
        </p:txBody>
      </p:sp>
      <p:sp>
        <p:nvSpPr>
          <p:cNvPr id="9" name="Text 6"/>
          <p:cNvSpPr/>
          <p:nvPr/>
        </p:nvSpPr>
        <p:spPr>
          <a:xfrm>
            <a:off x="594360" y="2359152"/>
            <a:ext cx="1371600" cy="274320"/>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FP&amp;A Model</a:t>
            </a:r>
            <a:endParaRPr lang="en-US" sz="1000" dirty="0"/>
          </a:p>
        </p:txBody>
      </p:sp>
      <p:sp>
        <p:nvSpPr>
          <p:cNvPr id="10" name="Text 7"/>
          <p:cNvSpPr/>
          <p:nvPr/>
        </p:nvSpPr>
        <p:spPr>
          <a:xfrm>
            <a:off x="640080" y="2697480"/>
            <a:ext cx="1280160" cy="1463040"/>
          </a:xfrm>
          <a:prstGeom prst="rect">
            <a:avLst/>
          </a:prstGeom>
          <a:noFill/>
          <a:ln/>
        </p:spPr>
        <p:txBody>
          <a:bodyPr wrap="square" rtlCol="0" anchor="ctr"/>
          <a:lstStyle/>
          <a:p>
            <a:pPr marL="0" indent="0" algn="l">
              <a:buNone/>
            </a:pPr>
            <a:r>
              <a:rPr lang="en-US" sz="1000" dirty="0">
                <a:solidFill>
                  <a:srgbClr val="B0C4D8"/>
                </a:solidFill>
                <a:latin typeface="Calibri" pitchFamily="34" charset="0"/>
                <a:ea typeface="Calibri" pitchFamily="34" charset="-122"/>
                <a:cs typeface="Calibri" pitchFamily="34" charset="-120"/>
              </a:rPr>
              <a:t>Financial model with Revenue, Expenses, KPIs, Scenarios, and Budget sheets; monthly actuals vs. plan</a:t>
            </a:r>
            <a:endParaRPr lang="en-US" sz="1000" dirty="0"/>
          </a:p>
        </p:txBody>
      </p:sp>
      <p:sp>
        <p:nvSpPr>
          <p:cNvPr id="11" name="Shape 8"/>
          <p:cNvSpPr/>
          <p:nvPr/>
        </p:nvSpPr>
        <p:spPr>
          <a:xfrm>
            <a:off x="2048256" y="2450592"/>
            <a:ext cx="109728" cy="0"/>
          </a:xfrm>
          <a:prstGeom prst="line">
            <a:avLst/>
          </a:prstGeom>
          <a:noFill/>
          <a:ln w="25400">
            <a:solidFill>
              <a:srgbClr val="0D9488"/>
            </a:solidFill>
            <a:prstDash val="solid"/>
          </a:ln>
        </p:spPr>
        <p:txBody>
          <a:bodyPr/>
          <a:lstStyle/>
          <a:p>
            <a:endParaRPr lang="en-US"/>
          </a:p>
        </p:txBody>
      </p:sp>
      <p:sp>
        <p:nvSpPr>
          <p:cNvPr id="12" name="Text 9"/>
          <p:cNvSpPr/>
          <p:nvPr/>
        </p:nvSpPr>
        <p:spPr>
          <a:xfrm>
            <a:off x="1975104" y="2331720"/>
            <a:ext cx="274320" cy="274320"/>
          </a:xfrm>
          <a:prstGeom prst="rect">
            <a:avLst/>
          </a:prstGeom>
          <a:noFill/>
          <a:ln/>
        </p:spPr>
        <p:txBody>
          <a:bodyPr wrap="square" rtlCol="0" anchor="ctr"/>
          <a:lstStyle/>
          <a:p>
            <a:pPr marL="0" indent="0">
              <a:buNone/>
            </a:pPr>
            <a:r>
              <a:rPr lang="en-US" sz="1800" b="1" dirty="0">
                <a:solidFill>
                  <a:srgbClr val="14B8A6"/>
                </a:solidFill>
              </a:rPr>
              <a:t>›</a:t>
            </a:r>
            <a:endParaRPr lang="en-US" sz="1800" dirty="0"/>
          </a:p>
        </p:txBody>
      </p:sp>
      <p:sp>
        <p:nvSpPr>
          <p:cNvPr id="13" name="Shape 10"/>
          <p:cNvSpPr/>
          <p:nvPr/>
        </p:nvSpPr>
        <p:spPr>
          <a:xfrm>
            <a:off x="2194560" y="1005840"/>
            <a:ext cx="1463040" cy="3291840"/>
          </a:xfrm>
          <a:prstGeom prst="rect">
            <a:avLst/>
          </a:prstGeom>
          <a:solidFill>
            <a:srgbClr val="1B2A4A"/>
          </a:solidFill>
          <a:ln w="12700">
            <a:solidFill>
              <a:srgbClr val="1B2A4A"/>
            </a:solidFill>
            <a:prstDash val="solid"/>
          </a:ln>
          <a:effectLst>
            <a:outerShdw blurRad="101600" dist="25400" dir="8100000" algn="bl" rotWithShape="0">
              <a:srgbClr val="000000">
                <a:alpha val="15000"/>
              </a:srgbClr>
            </a:outerShdw>
          </a:effectLst>
        </p:spPr>
        <p:txBody>
          <a:bodyPr/>
          <a:lstStyle/>
          <a:p>
            <a:endParaRPr lang="en-US"/>
          </a:p>
        </p:txBody>
      </p:sp>
      <p:sp>
        <p:nvSpPr>
          <p:cNvPr id="14" name="Shape 11"/>
          <p:cNvSpPr/>
          <p:nvPr/>
        </p:nvSpPr>
        <p:spPr>
          <a:xfrm>
            <a:off x="2194560" y="1005840"/>
            <a:ext cx="1463040" cy="54864"/>
          </a:xfrm>
          <a:prstGeom prst="rect">
            <a:avLst/>
          </a:prstGeom>
          <a:solidFill>
            <a:srgbClr val="CC6B00"/>
          </a:solidFill>
          <a:ln w="12700">
            <a:solidFill>
              <a:srgbClr val="CC6B00"/>
            </a:solidFill>
            <a:prstDash val="solid"/>
          </a:ln>
        </p:spPr>
        <p:txBody>
          <a:bodyPr/>
          <a:lstStyle/>
          <a:p>
            <a:endParaRPr lang="en-US"/>
          </a:p>
        </p:txBody>
      </p:sp>
      <p:sp>
        <p:nvSpPr>
          <p:cNvPr id="15" name="Shape 12"/>
          <p:cNvSpPr/>
          <p:nvPr/>
        </p:nvSpPr>
        <p:spPr>
          <a:xfrm>
            <a:off x="2606040" y="1188720"/>
            <a:ext cx="640080" cy="640080"/>
          </a:xfrm>
          <a:prstGeom prst="ellipse">
            <a:avLst/>
          </a:prstGeom>
          <a:solidFill>
            <a:srgbClr val="CC6B00"/>
          </a:solidFill>
          <a:ln w="12700">
            <a:solidFill>
              <a:srgbClr val="CC6B00"/>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2697480" y="1280160"/>
            <a:ext cx="457200" cy="457200"/>
          </a:xfrm>
          <a:prstGeom prst="rect">
            <a:avLst/>
          </a:prstGeom>
        </p:spPr>
      </p:pic>
      <p:sp>
        <p:nvSpPr>
          <p:cNvPr id="17" name="Text 13"/>
          <p:cNvSpPr/>
          <p:nvPr/>
        </p:nvSpPr>
        <p:spPr>
          <a:xfrm>
            <a:off x="2240280" y="1965960"/>
            <a:ext cx="137160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SQL</a:t>
            </a:r>
            <a:endParaRPr lang="en-US" sz="1600" dirty="0"/>
          </a:p>
        </p:txBody>
      </p:sp>
      <p:sp>
        <p:nvSpPr>
          <p:cNvPr id="18" name="Text 14"/>
          <p:cNvSpPr/>
          <p:nvPr/>
        </p:nvSpPr>
        <p:spPr>
          <a:xfrm>
            <a:off x="2240280" y="2359152"/>
            <a:ext cx="1371600" cy="274320"/>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Data Analysis</a:t>
            </a:r>
            <a:endParaRPr lang="en-US" sz="1000" dirty="0"/>
          </a:p>
        </p:txBody>
      </p:sp>
      <p:sp>
        <p:nvSpPr>
          <p:cNvPr id="19" name="Text 15"/>
          <p:cNvSpPr/>
          <p:nvPr/>
        </p:nvSpPr>
        <p:spPr>
          <a:xfrm>
            <a:off x="2286000" y="2697480"/>
            <a:ext cx="1280160" cy="1463040"/>
          </a:xfrm>
          <a:prstGeom prst="rect">
            <a:avLst/>
          </a:prstGeom>
          <a:noFill/>
          <a:ln/>
        </p:spPr>
        <p:txBody>
          <a:bodyPr wrap="square" rtlCol="0" anchor="ctr"/>
          <a:lstStyle/>
          <a:p>
            <a:pPr marL="0" indent="0" algn="l">
              <a:buNone/>
            </a:pPr>
            <a:r>
              <a:rPr lang="en-US" sz="1000" dirty="0">
                <a:solidFill>
                  <a:srgbClr val="B0C4D8"/>
                </a:solidFill>
                <a:latin typeface="Calibri" pitchFamily="34" charset="0"/>
                <a:ea typeface="Calibri" pitchFamily="34" charset="-122"/>
                <a:cs typeface="Calibri" pitchFamily="34" charset="-120"/>
              </a:rPr>
              <a:t>12 analytical queries: revenue mix, budget variance, expense overruns, EBITDA, churn &amp; CAC risk flags</a:t>
            </a:r>
            <a:endParaRPr lang="en-US" sz="1000" dirty="0"/>
          </a:p>
        </p:txBody>
      </p:sp>
      <p:sp>
        <p:nvSpPr>
          <p:cNvPr id="20" name="Shape 16"/>
          <p:cNvSpPr/>
          <p:nvPr/>
        </p:nvSpPr>
        <p:spPr>
          <a:xfrm>
            <a:off x="3694176" y="2450592"/>
            <a:ext cx="109728" cy="0"/>
          </a:xfrm>
          <a:prstGeom prst="line">
            <a:avLst/>
          </a:prstGeom>
          <a:noFill/>
          <a:ln w="25400">
            <a:solidFill>
              <a:srgbClr val="0D9488"/>
            </a:solidFill>
            <a:prstDash val="solid"/>
          </a:ln>
        </p:spPr>
        <p:txBody>
          <a:bodyPr/>
          <a:lstStyle/>
          <a:p>
            <a:endParaRPr lang="en-US"/>
          </a:p>
        </p:txBody>
      </p:sp>
      <p:sp>
        <p:nvSpPr>
          <p:cNvPr id="21" name="Text 17"/>
          <p:cNvSpPr/>
          <p:nvPr/>
        </p:nvSpPr>
        <p:spPr>
          <a:xfrm>
            <a:off x="3621024" y="2331720"/>
            <a:ext cx="274320" cy="274320"/>
          </a:xfrm>
          <a:prstGeom prst="rect">
            <a:avLst/>
          </a:prstGeom>
          <a:noFill/>
          <a:ln/>
        </p:spPr>
        <p:txBody>
          <a:bodyPr wrap="square" rtlCol="0" anchor="ctr"/>
          <a:lstStyle/>
          <a:p>
            <a:pPr marL="0" indent="0">
              <a:buNone/>
            </a:pPr>
            <a:r>
              <a:rPr lang="en-US" sz="1800" b="1" dirty="0">
                <a:solidFill>
                  <a:srgbClr val="14B8A6"/>
                </a:solidFill>
              </a:rPr>
              <a:t>›</a:t>
            </a:r>
            <a:endParaRPr lang="en-US" sz="1800" dirty="0"/>
          </a:p>
        </p:txBody>
      </p:sp>
      <p:sp>
        <p:nvSpPr>
          <p:cNvPr id="22" name="Shape 18"/>
          <p:cNvSpPr/>
          <p:nvPr/>
        </p:nvSpPr>
        <p:spPr>
          <a:xfrm>
            <a:off x="3840480" y="1005840"/>
            <a:ext cx="1463040" cy="3291840"/>
          </a:xfrm>
          <a:prstGeom prst="rect">
            <a:avLst/>
          </a:prstGeom>
          <a:solidFill>
            <a:srgbClr val="1B2A4A"/>
          </a:solidFill>
          <a:ln w="12700">
            <a:solidFill>
              <a:srgbClr val="1B2A4A"/>
            </a:solidFill>
            <a:prstDash val="solid"/>
          </a:ln>
          <a:effectLst>
            <a:outerShdw blurRad="101600" dist="25400" dir="8100000" algn="bl" rotWithShape="0">
              <a:srgbClr val="000000">
                <a:alpha val="15000"/>
              </a:srgbClr>
            </a:outerShdw>
          </a:effectLst>
        </p:spPr>
        <p:txBody>
          <a:bodyPr/>
          <a:lstStyle/>
          <a:p>
            <a:endParaRPr lang="en-US"/>
          </a:p>
        </p:txBody>
      </p:sp>
      <p:sp>
        <p:nvSpPr>
          <p:cNvPr id="23" name="Shape 19"/>
          <p:cNvSpPr/>
          <p:nvPr/>
        </p:nvSpPr>
        <p:spPr>
          <a:xfrm>
            <a:off x="3840480" y="1005840"/>
            <a:ext cx="1463040" cy="54864"/>
          </a:xfrm>
          <a:prstGeom prst="rect">
            <a:avLst/>
          </a:prstGeom>
          <a:solidFill>
            <a:srgbClr val="2563A8"/>
          </a:solidFill>
          <a:ln w="12700">
            <a:solidFill>
              <a:srgbClr val="2563A8"/>
            </a:solidFill>
            <a:prstDash val="solid"/>
          </a:ln>
        </p:spPr>
        <p:txBody>
          <a:bodyPr/>
          <a:lstStyle/>
          <a:p>
            <a:endParaRPr lang="en-US"/>
          </a:p>
        </p:txBody>
      </p:sp>
      <p:sp>
        <p:nvSpPr>
          <p:cNvPr id="24" name="Shape 20"/>
          <p:cNvSpPr/>
          <p:nvPr/>
        </p:nvSpPr>
        <p:spPr>
          <a:xfrm>
            <a:off x="4251960" y="1188720"/>
            <a:ext cx="640080" cy="640080"/>
          </a:xfrm>
          <a:prstGeom prst="ellipse">
            <a:avLst/>
          </a:prstGeom>
          <a:solidFill>
            <a:srgbClr val="2563A8"/>
          </a:solidFill>
          <a:ln w="12700">
            <a:solidFill>
              <a:srgbClr val="2563A8"/>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4343400" y="1280160"/>
            <a:ext cx="457200" cy="457200"/>
          </a:xfrm>
          <a:prstGeom prst="rect">
            <a:avLst/>
          </a:prstGeom>
        </p:spPr>
      </p:pic>
      <p:sp>
        <p:nvSpPr>
          <p:cNvPr id="26" name="Text 21"/>
          <p:cNvSpPr/>
          <p:nvPr/>
        </p:nvSpPr>
        <p:spPr>
          <a:xfrm>
            <a:off x="3886200" y="1965960"/>
            <a:ext cx="137160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Python</a:t>
            </a:r>
            <a:endParaRPr lang="en-US" sz="1600" dirty="0"/>
          </a:p>
        </p:txBody>
      </p:sp>
      <p:sp>
        <p:nvSpPr>
          <p:cNvPr id="27" name="Text 22"/>
          <p:cNvSpPr/>
          <p:nvPr/>
        </p:nvSpPr>
        <p:spPr>
          <a:xfrm>
            <a:off x="3886200" y="2359152"/>
            <a:ext cx="1371600" cy="274320"/>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Forecasting</a:t>
            </a:r>
            <a:endParaRPr lang="en-US" sz="1000" dirty="0"/>
          </a:p>
        </p:txBody>
      </p:sp>
      <p:sp>
        <p:nvSpPr>
          <p:cNvPr id="28" name="Text 23"/>
          <p:cNvSpPr/>
          <p:nvPr/>
        </p:nvSpPr>
        <p:spPr>
          <a:xfrm>
            <a:off x="3931920" y="2697480"/>
            <a:ext cx="1280160" cy="1463040"/>
          </a:xfrm>
          <a:prstGeom prst="rect">
            <a:avLst/>
          </a:prstGeom>
          <a:noFill/>
          <a:ln/>
        </p:spPr>
        <p:txBody>
          <a:bodyPr wrap="square" rtlCol="0" anchor="ctr"/>
          <a:lstStyle/>
          <a:p>
            <a:pPr marL="0" indent="0" algn="l">
              <a:buNone/>
            </a:pPr>
            <a:r>
              <a:rPr lang="en-US" sz="1000" dirty="0">
                <a:solidFill>
                  <a:srgbClr val="B0C4D8"/>
                </a:solidFill>
                <a:latin typeface="Calibri" pitchFamily="34" charset="0"/>
                <a:ea typeface="Calibri" pitchFamily="34" charset="-122"/>
                <a:cs typeface="Calibri" pitchFamily="34" charset="-120"/>
              </a:rPr>
              <a:t>Pandas/NumPy notebook: scenario forecasting, KPI risk flagging, EBITDA trend, CFO auto-commentary</a:t>
            </a:r>
            <a:endParaRPr lang="en-US" sz="1000" dirty="0"/>
          </a:p>
        </p:txBody>
      </p:sp>
      <p:sp>
        <p:nvSpPr>
          <p:cNvPr id="29" name="Shape 24"/>
          <p:cNvSpPr/>
          <p:nvPr/>
        </p:nvSpPr>
        <p:spPr>
          <a:xfrm>
            <a:off x="5340096" y="2450592"/>
            <a:ext cx="109728" cy="0"/>
          </a:xfrm>
          <a:prstGeom prst="line">
            <a:avLst/>
          </a:prstGeom>
          <a:noFill/>
          <a:ln w="25400">
            <a:solidFill>
              <a:srgbClr val="0D9488"/>
            </a:solidFill>
            <a:prstDash val="solid"/>
          </a:ln>
        </p:spPr>
        <p:txBody>
          <a:bodyPr/>
          <a:lstStyle/>
          <a:p>
            <a:endParaRPr lang="en-US"/>
          </a:p>
        </p:txBody>
      </p:sp>
      <p:sp>
        <p:nvSpPr>
          <p:cNvPr id="30" name="Text 25"/>
          <p:cNvSpPr/>
          <p:nvPr/>
        </p:nvSpPr>
        <p:spPr>
          <a:xfrm>
            <a:off x="5266944" y="2331720"/>
            <a:ext cx="274320" cy="274320"/>
          </a:xfrm>
          <a:prstGeom prst="rect">
            <a:avLst/>
          </a:prstGeom>
          <a:noFill/>
          <a:ln/>
        </p:spPr>
        <p:txBody>
          <a:bodyPr wrap="square" rtlCol="0" anchor="ctr"/>
          <a:lstStyle/>
          <a:p>
            <a:pPr marL="0" indent="0">
              <a:buNone/>
            </a:pPr>
            <a:r>
              <a:rPr lang="en-US" sz="1800" b="1" dirty="0">
                <a:solidFill>
                  <a:srgbClr val="14B8A6"/>
                </a:solidFill>
              </a:rPr>
              <a:t>›</a:t>
            </a:r>
            <a:endParaRPr lang="en-US" sz="1800" dirty="0"/>
          </a:p>
        </p:txBody>
      </p:sp>
      <p:sp>
        <p:nvSpPr>
          <p:cNvPr id="31" name="Shape 26"/>
          <p:cNvSpPr/>
          <p:nvPr/>
        </p:nvSpPr>
        <p:spPr>
          <a:xfrm>
            <a:off x="5486400" y="1005840"/>
            <a:ext cx="1463040" cy="3291840"/>
          </a:xfrm>
          <a:prstGeom prst="rect">
            <a:avLst/>
          </a:prstGeom>
          <a:solidFill>
            <a:srgbClr val="1B2A4A"/>
          </a:solidFill>
          <a:ln w="12700">
            <a:solidFill>
              <a:srgbClr val="1B2A4A"/>
            </a:solidFill>
            <a:prstDash val="solid"/>
          </a:ln>
          <a:effectLst>
            <a:outerShdw blurRad="101600" dist="25400" dir="8100000" algn="bl" rotWithShape="0">
              <a:srgbClr val="000000">
                <a:alpha val="15000"/>
              </a:srgbClr>
            </a:outerShdw>
          </a:effectLst>
        </p:spPr>
        <p:txBody>
          <a:bodyPr/>
          <a:lstStyle/>
          <a:p>
            <a:endParaRPr lang="en-US"/>
          </a:p>
        </p:txBody>
      </p:sp>
      <p:sp>
        <p:nvSpPr>
          <p:cNvPr id="32" name="Shape 27"/>
          <p:cNvSpPr/>
          <p:nvPr/>
        </p:nvSpPr>
        <p:spPr>
          <a:xfrm>
            <a:off x="5486400" y="1005840"/>
            <a:ext cx="1463040" cy="54864"/>
          </a:xfrm>
          <a:prstGeom prst="rect">
            <a:avLst/>
          </a:prstGeom>
          <a:solidFill>
            <a:srgbClr val="BE2B7B"/>
          </a:solidFill>
          <a:ln w="12700">
            <a:solidFill>
              <a:srgbClr val="BE2B7B"/>
            </a:solidFill>
            <a:prstDash val="solid"/>
          </a:ln>
        </p:spPr>
        <p:txBody>
          <a:bodyPr/>
          <a:lstStyle/>
          <a:p>
            <a:endParaRPr lang="en-US"/>
          </a:p>
        </p:txBody>
      </p:sp>
      <p:sp>
        <p:nvSpPr>
          <p:cNvPr id="33" name="Shape 28"/>
          <p:cNvSpPr/>
          <p:nvPr/>
        </p:nvSpPr>
        <p:spPr>
          <a:xfrm>
            <a:off x="5897880" y="1188720"/>
            <a:ext cx="640080" cy="640080"/>
          </a:xfrm>
          <a:prstGeom prst="ellipse">
            <a:avLst/>
          </a:prstGeom>
          <a:solidFill>
            <a:srgbClr val="BE2B7B"/>
          </a:solidFill>
          <a:ln w="12700">
            <a:solidFill>
              <a:srgbClr val="BE2B7B"/>
            </a:solidFill>
            <a:prstDash val="solid"/>
          </a:ln>
        </p:spPr>
        <p:txBody>
          <a:bodyPr/>
          <a:lstStyle/>
          <a:p>
            <a:endParaRPr lang="en-US"/>
          </a:p>
        </p:txBody>
      </p:sp>
      <p:pic>
        <p:nvPicPr>
          <p:cNvPr id="34" name="Image 3" descr="preencoded.png"/>
          <p:cNvPicPr>
            <a:picLocks noChangeAspect="1"/>
          </p:cNvPicPr>
          <p:nvPr/>
        </p:nvPicPr>
        <p:blipFill>
          <a:blip r:embed="rId6"/>
          <a:stretch>
            <a:fillRect/>
          </a:stretch>
        </p:blipFill>
        <p:spPr>
          <a:xfrm>
            <a:off x="5989320" y="1280160"/>
            <a:ext cx="457200" cy="457200"/>
          </a:xfrm>
          <a:prstGeom prst="rect">
            <a:avLst/>
          </a:prstGeom>
        </p:spPr>
      </p:pic>
      <p:sp>
        <p:nvSpPr>
          <p:cNvPr id="35" name="Text 29"/>
          <p:cNvSpPr/>
          <p:nvPr/>
        </p:nvSpPr>
        <p:spPr>
          <a:xfrm>
            <a:off x="5532120" y="1965960"/>
            <a:ext cx="137160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Power BI</a:t>
            </a:r>
            <a:endParaRPr lang="en-US" sz="1600" dirty="0"/>
          </a:p>
        </p:txBody>
      </p:sp>
      <p:sp>
        <p:nvSpPr>
          <p:cNvPr id="36" name="Text 30"/>
          <p:cNvSpPr/>
          <p:nvPr/>
        </p:nvSpPr>
        <p:spPr>
          <a:xfrm>
            <a:off x="5532120" y="2359152"/>
            <a:ext cx="1371600" cy="274320"/>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Dashboard</a:t>
            </a:r>
            <a:endParaRPr lang="en-US" sz="1000" dirty="0"/>
          </a:p>
        </p:txBody>
      </p:sp>
      <p:sp>
        <p:nvSpPr>
          <p:cNvPr id="37" name="Text 31"/>
          <p:cNvSpPr/>
          <p:nvPr/>
        </p:nvSpPr>
        <p:spPr>
          <a:xfrm>
            <a:off x="5577840" y="2697480"/>
            <a:ext cx="1280160" cy="1463040"/>
          </a:xfrm>
          <a:prstGeom prst="rect">
            <a:avLst/>
          </a:prstGeom>
          <a:noFill/>
          <a:ln/>
        </p:spPr>
        <p:txBody>
          <a:bodyPr wrap="square" rtlCol="0" anchor="ctr"/>
          <a:lstStyle/>
          <a:p>
            <a:pPr marL="0" indent="0" algn="l">
              <a:buNone/>
            </a:pPr>
            <a:r>
              <a:rPr lang="en-US" sz="1000" dirty="0">
                <a:solidFill>
                  <a:srgbClr val="B0C4D8"/>
                </a:solidFill>
                <a:latin typeface="Calibri" pitchFamily="34" charset="0"/>
                <a:ea typeface="Calibri" pitchFamily="34" charset="-122"/>
                <a:cs typeface="Calibri" pitchFamily="34" charset="-120"/>
              </a:rPr>
              <a:t>7-panel interactive dashboard with month slicer, KPI cards, revenue trend, budget vs. actual, and more</a:t>
            </a:r>
            <a:endParaRPr lang="en-US" sz="1000" dirty="0"/>
          </a:p>
        </p:txBody>
      </p:sp>
      <p:sp>
        <p:nvSpPr>
          <p:cNvPr id="38" name="Shape 32"/>
          <p:cNvSpPr/>
          <p:nvPr/>
        </p:nvSpPr>
        <p:spPr>
          <a:xfrm>
            <a:off x="6986016" y="2450592"/>
            <a:ext cx="109728" cy="0"/>
          </a:xfrm>
          <a:prstGeom prst="line">
            <a:avLst/>
          </a:prstGeom>
          <a:noFill/>
          <a:ln w="25400">
            <a:solidFill>
              <a:srgbClr val="0D9488"/>
            </a:solidFill>
            <a:prstDash val="solid"/>
          </a:ln>
        </p:spPr>
        <p:txBody>
          <a:bodyPr/>
          <a:lstStyle/>
          <a:p>
            <a:endParaRPr lang="en-US"/>
          </a:p>
        </p:txBody>
      </p:sp>
      <p:sp>
        <p:nvSpPr>
          <p:cNvPr id="39" name="Text 33"/>
          <p:cNvSpPr/>
          <p:nvPr/>
        </p:nvSpPr>
        <p:spPr>
          <a:xfrm>
            <a:off x="6912864" y="2331720"/>
            <a:ext cx="274320" cy="274320"/>
          </a:xfrm>
          <a:prstGeom prst="rect">
            <a:avLst/>
          </a:prstGeom>
          <a:noFill/>
          <a:ln/>
        </p:spPr>
        <p:txBody>
          <a:bodyPr wrap="square" rtlCol="0" anchor="ctr"/>
          <a:lstStyle/>
          <a:p>
            <a:pPr marL="0" indent="0">
              <a:buNone/>
            </a:pPr>
            <a:r>
              <a:rPr lang="en-US" sz="1800" b="1" dirty="0">
                <a:solidFill>
                  <a:srgbClr val="14B8A6"/>
                </a:solidFill>
              </a:rPr>
              <a:t>›</a:t>
            </a:r>
            <a:endParaRPr lang="en-US" sz="1800" dirty="0"/>
          </a:p>
        </p:txBody>
      </p:sp>
      <p:sp>
        <p:nvSpPr>
          <p:cNvPr id="40" name="Shape 34"/>
          <p:cNvSpPr/>
          <p:nvPr/>
        </p:nvSpPr>
        <p:spPr>
          <a:xfrm>
            <a:off x="7132320" y="1005840"/>
            <a:ext cx="1463040" cy="3291840"/>
          </a:xfrm>
          <a:prstGeom prst="rect">
            <a:avLst/>
          </a:prstGeom>
          <a:solidFill>
            <a:srgbClr val="1B2A4A"/>
          </a:solidFill>
          <a:ln w="12700">
            <a:solidFill>
              <a:srgbClr val="1B2A4A"/>
            </a:solidFill>
            <a:prstDash val="solid"/>
          </a:ln>
          <a:effectLst>
            <a:outerShdw blurRad="101600" dist="25400" dir="8100000" algn="bl" rotWithShape="0">
              <a:srgbClr val="000000">
                <a:alpha val="15000"/>
              </a:srgbClr>
            </a:outerShdw>
          </a:effectLst>
        </p:spPr>
        <p:txBody>
          <a:bodyPr/>
          <a:lstStyle/>
          <a:p>
            <a:endParaRPr lang="en-US"/>
          </a:p>
        </p:txBody>
      </p:sp>
      <p:sp>
        <p:nvSpPr>
          <p:cNvPr id="41" name="Shape 35"/>
          <p:cNvSpPr/>
          <p:nvPr/>
        </p:nvSpPr>
        <p:spPr>
          <a:xfrm>
            <a:off x="7132320" y="1005840"/>
            <a:ext cx="1463040" cy="54864"/>
          </a:xfrm>
          <a:prstGeom prst="rect">
            <a:avLst/>
          </a:prstGeom>
          <a:solidFill>
            <a:srgbClr val="1B2A4A"/>
          </a:solidFill>
          <a:ln w="12700">
            <a:solidFill>
              <a:srgbClr val="1B2A4A"/>
            </a:solidFill>
            <a:prstDash val="solid"/>
          </a:ln>
        </p:spPr>
        <p:txBody>
          <a:bodyPr/>
          <a:lstStyle/>
          <a:p>
            <a:endParaRPr lang="en-US"/>
          </a:p>
        </p:txBody>
      </p:sp>
      <p:sp>
        <p:nvSpPr>
          <p:cNvPr id="42" name="Shape 36"/>
          <p:cNvSpPr/>
          <p:nvPr/>
        </p:nvSpPr>
        <p:spPr>
          <a:xfrm>
            <a:off x="7543800" y="1188720"/>
            <a:ext cx="640080" cy="640080"/>
          </a:xfrm>
          <a:prstGeom prst="ellipse">
            <a:avLst/>
          </a:prstGeom>
          <a:solidFill>
            <a:srgbClr val="1B2A4A"/>
          </a:solidFill>
          <a:ln w="12700">
            <a:solidFill>
              <a:srgbClr val="1B2A4A"/>
            </a:solidFill>
            <a:prstDash val="solid"/>
          </a:ln>
        </p:spPr>
        <p:txBody>
          <a:bodyPr/>
          <a:lstStyle/>
          <a:p>
            <a:endParaRPr lang="en-US"/>
          </a:p>
        </p:txBody>
      </p:sp>
      <p:pic>
        <p:nvPicPr>
          <p:cNvPr id="43" name="Image 4" descr="preencoded.png"/>
          <p:cNvPicPr>
            <a:picLocks noChangeAspect="1"/>
          </p:cNvPicPr>
          <p:nvPr/>
        </p:nvPicPr>
        <p:blipFill>
          <a:blip r:embed="rId7"/>
          <a:stretch>
            <a:fillRect/>
          </a:stretch>
        </p:blipFill>
        <p:spPr>
          <a:xfrm>
            <a:off x="7635240" y="1280160"/>
            <a:ext cx="457200" cy="457200"/>
          </a:xfrm>
          <a:prstGeom prst="rect">
            <a:avLst/>
          </a:prstGeom>
        </p:spPr>
      </p:pic>
      <p:sp>
        <p:nvSpPr>
          <p:cNvPr id="44" name="Text 37"/>
          <p:cNvSpPr/>
          <p:nvPr/>
        </p:nvSpPr>
        <p:spPr>
          <a:xfrm>
            <a:off x="7178040" y="1965960"/>
            <a:ext cx="137160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Report</a:t>
            </a:r>
            <a:endParaRPr lang="en-US" sz="1600" dirty="0"/>
          </a:p>
        </p:txBody>
      </p:sp>
      <p:sp>
        <p:nvSpPr>
          <p:cNvPr id="45" name="Text 38"/>
          <p:cNvSpPr/>
          <p:nvPr/>
        </p:nvSpPr>
        <p:spPr>
          <a:xfrm>
            <a:off x="7178040" y="2359152"/>
            <a:ext cx="1371600" cy="274320"/>
          </a:xfrm>
          <a:prstGeom prst="rect">
            <a:avLst/>
          </a:prstGeom>
          <a:noFill/>
          <a:ln/>
        </p:spPr>
        <p:txBody>
          <a:bodyPr wrap="square" rtlCol="0" anchor="ctr"/>
          <a:lstStyle/>
          <a:p>
            <a:pPr marL="0" indent="0" algn="ctr">
              <a:buNone/>
            </a:pPr>
            <a:r>
              <a:rPr lang="en-US" sz="1000" b="1" dirty="0">
                <a:solidFill>
                  <a:srgbClr val="14B8A6"/>
                </a:solidFill>
                <a:latin typeface="Calibri" pitchFamily="34" charset="0"/>
                <a:ea typeface="Calibri" pitchFamily="34" charset="-122"/>
                <a:cs typeface="Calibri" pitchFamily="34" charset="-120"/>
              </a:rPr>
              <a:t>Executive Output</a:t>
            </a:r>
            <a:endParaRPr lang="en-US" sz="1000" dirty="0"/>
          </a:p>
        </p:txBody>
      </p:sp>
      <p:sp>
        <p:nvSpPr>
          <p:cNvPr id="46" name="Text 39"/>
          <p:cNvSpPr/>
          <p:nvPr/>
        </p:nvSpPr>
        <p:spPr>
          <a:xfrm>
            <a:off x="7223760" y="2697480"/>
            <a:ext cx="1280160" cy="1463040"/>
          </a:xfrm>
          <a:prstGeom prst="rect">
            <a:avLst/>
          </a:prstGeom>
          <a:noFill/>
          <a:ln/>
        </p:spPr>
        <p:txBody>
          <a:bodyPr wrap="square" rtlCol="0" anchor="ctr"/>
          <a:lstStyle/>
          <a:p>
            <a:pPr marL="0" indent="0" algn="l">
              <a:buNone/>
            </a:pPr>
            <a:r>
              <a:rPr lang="en-US" sz="1000" dirty="0">
                <a:solidFill>
                  <a:srgbClr val="B0C4D8"/>
                </a:solidFill>
                <a:latin typeface="Calibri" pitchFamily="34" charset="0"/>
                <a:ea typeface="Calibri" pitchFamily="34" charset="-122"/>
                <a:cs typeface="Calibri" pitchFamily="34" charset="-120"/>
              </a:rPr>
              <a:t>Word-format executive summary with key findings, tables, risk flags, and strategic recommendations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Data Model &amp; Dataset</a:t>
            </a:r>
            <a:endParaRPr lang="en-US" sz="2400" dirty="0"/>
          </a:p>
        </p:txBody>
      </p:sp>
      <p:sp>
        <p:nvSpPr>
          <p:cNvPr id="4" name="Text 2"/>
          <p:cNvSpPr/>
          <p:nvPr/>
        </p:nvSpPr>
        <p:spPr>
          <a:xfrm>
            <a:off x="457200" y="896112"/>
            <a:ext cx="8229600" cy="292608"/>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7 structured tables · Jan 2024 – Jun 2024 · Monthly granularity</a:t>
            </a:r>
            <a:endParaRPr lang="en-US" sz="1300" dirty="0"/>
          </a:p>
        </p:txBody>
      </p:sp>
      <p:sp>
        <p:nvSpPr>
          <p:cNvPr id="5" name="Shape 3"/>
          <p:cNvSpPr/>
          <p:nvPr/>
        </p:nvSpPr>
        <p:spPr>
          <a:xfrm>
            <a:off x="320040" y="1298448"/>
            <a:ext cx="2011680" cy="1371600"/>
          </a:xfrm>
          <a:prstGeom prst="rect">
            <a:avLst/>
          </a:prstGeom>
          <a:solidFill>
            <a:srgbClr val="F0F4F8"/>
          </a:solidFill>
          <a:ln w="12700">
            <a:solidFill>
              <a:srgbClr val="E2E8F0"/>
            </a:solidFill>
            <a:prstDash val="solid"/>
          </a:ln>
        </p:spPr>
        <p:txBody>
          <a:bodyPr/>
          <a:lstStyle/>
          <a:p>
            <a:endParaRPr lang="en-US"/>
          </a:p>
        </p:txBody>
      </p:sp>
      <p:sp>
        <p:nvSpPr>
          <p:cNvPr id="6" name="Shape 4"/>
          <p:cNvSpPr/>
          <p:nvPr/>
        </p:nvSpPr>
        <p:spPr>
          <a:xfrm>
            <a:off x="320040" y="1298448"/>
            <a:ext cx="2011680" cy="347472"/>
          </a:xfrm>
          <a:prstGeom prst="rect">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393192" y="1335024"/>
            <a:ext cx="18745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Revenue</a:t>
            </a:r>
            <a:endParaRPr lang="en-US" sz="1000" dirty="0"/>
          </a:p>
        </p:txBody>
      </p:sp>
      <p:sp>
        <p:nvSpPr>
          <p:cNvPr id="8" name="Text 6"/>
          <p:cNvSpPr/>
          <p:nvPr/>
        </p:nvSpPr>
        <p:spPr>
          <a:xfrm>
            <a:off x="393192" y="1709928"/>
            <a:ext cx="1874520" cy="91440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Month, Customer, Subscription, Transaction Fee, Premium Analytics, Setup Fee, Total Revenue</a:t>
            </a:r>
            <a:endParaRPr lang="en-US" sz="900" dirty="0"/>
          </a:p>
        </p:txBody>
      </p:sp>
      <p:sp>
        <p:nvSpPr>
          <p:cNvPr id="9" name="Shape 7"/>
          <p:cNvSpPr/>
          <p:nvPr/>
        </p:nvSpPr>
        <p:spPr>
          <a:xfrm>
            <a:off x="2496312" y="1298448"/>
            <a:ext cx="2011680" cy="1371600"/>
          </a:xfrm>
          <a:prstGeom prst="rect">
            <a:avLst/>
          </a:prstGeom>
          <a:solidFill>
            <a:srgbClr val="F0F4F8"/>
          </a:solidFill>
          <a:ln w="12700">
            <a:solidFill>
              <a:srgbClr val="E2E8F0"/>
            </a:solidFill>
            <a:prstDash val="solid"/>
          </a:ln>
        </p:spPr>
        <p:txBody>
          <a:bodyPr/>
          <a:lstStyle/>
          <a:p>
            <a:endParaRPr lang="en-US"/>
          </a:p>
        </p:txBody>
      </p:sp>
      <p:sp>
        <p:nvSpPr>
          <p:cNvPr id="10" name="Shape 8"/>
          <p:cNvSpPr/>
          <p:nvPr/>
        </p:nvSpPr>
        <p:spPr>
          <a:xfrm>
            <a:off x="2496312" y="1298448"/>
            <a:ext cx="2011680" cy="347472"/>
          </a:xfrm>
          <a:prstGeom prst="rect">
            <a:avLst/>
          </a:prstGeom>
          <a:solidFill>
            <a:srgbClr val="0891B2"/>
          </a:solidFill>
          <a:ln w="12700">
            <a:solidFill>
              <a:srgbClr val="0891B2"/>
            </a:solidFill>
            <a:prstDash val="solid"/>
          </a:ln>
        </p:spPr>
        <p:txBody>
          <a:bodyPr/>
          <a:lstStyle/>
          <a:p>
            <a:endParaRPr lang="en-US"/>
          </a:p>
        </p:txBody>
      </p:sp>
      <p:sp>
        <p:nvSpPr>
          <p:cNvPr id="11" name="Text 9"/>
          <p:cNvSpPr/>
          <p:nvPr/>
        </p:nvSpPr>
        <p:spPr>
          <a:xfrm>
            <a:off x="2569464" y="1335024"/>
            <a:ext cx="18745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Expenses</a:t>
            </a:r>
            <a:endParaRPr lang="en-US" sz="1000" dirty="0"/>
          </a:p>
        </p:txBody>
      </p:sp>
      <p:sp>
        <p:nvSpPr>
          <p:cNvPr id="12" name="Text 10"/>
          <p:cNvSpPr/>
          <p:nvPr/>
        </p:nvSpPr>
        <p:spPr>
          <a:xfrm>
            <a:off x="2569464" y="1709928"/>
            <a:ext cx="1874520" cy="91440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Month, Department, Category, Vendor, Budget Expense, Actual Expense</a:t>
            </a:r>
            <a:endParaRPr lang="en-US" sz="900" dirty="0"/>
          </a:p>
        </p:txBody>
      </p:sp>
      <p:sp>
        <p:nvSpPr>
          <p:cNvPr id="13" name="Shape 11"/>
          <p:cNvSpPr/>
          <p:nvPr/>
        </p:nvSpPr>
        <p:spPr>
          <a:xfrm>
            <a:off x="4672584" y="1298448"/>
            <a:ext cx="2011680" cy="1371600"/>
          </a:xfrm>
          <a:prstGeom prst="rect">
            <a:avLst/>
          </a:prstGeom>
          <a:solidFill>
            <a:srgbClr val="F0F4F8"/>
          </a:solidFill>
          <a:ln w="12700">
            <a:solidFill>
              <a:srgbClr val="E2E8F0"/>
            </a:solidFill>
            <a:prstDash val="solid"/>
          </a:ln>
        </p:spPr>
        <p:txBody>
          <a:bodyPr/>
          <a:lstStyle/>
          <a:p>
            <a:endParaRPr lang="en-US"/>
          </a:p>
        </p:txBody>
      </p:sp>
      <p:sp>
        <p:nvSpPr>
          <p:cNvPr id="14" name="Shape 12"/>
          <p:cNvSpPr/>
          <p:nvPr/>
        </p:nvSpPr>
        <p:spPr>
          <a:xfrm>
            <a:off x="4672584" y="1298448"/>
            <a:ext cx="2011680" cy="347472"/>
          </a:xfrm>
          <a:prstGeom prst="rect">
            <a:avLst/>
          </a:prstGeom>
          <a:solidFill>
            <a:srgbClr val="7C3AED"/>
          </a:solidFill>
          <a:ln w="12700">
            <a:solidFill>
              <a:srgbClr val="7C3AED"/>
            </a:solidFill>
            <a:prstDash val="solid"/>
          </a:ln>
        </p:spPr>
        <p:txBody>
          <a:bodyPr/>
          <a:lstStyle/>
          <a:p>
            <a:endParaRPr lang="en-US"/>
          </a:p>
        </p:txBody>
      </p:sp>
      <p:sp>
        <p:nvSpPr>
          <p:cNvPr id="15" name="Text 13"/>
          <p:cNvSpPr/>
          <p:nvPr/>
        </p:nvSpPr>
        <p:spPr>
          <a:xfrm>
            <a:off x="4745736" y="1335024"/>
            <a:ext cx="18745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Budget</a:t>
            </a:r>
            <a:endParaRPr lang="en-US" sz="1000" dirty="0"/>
          </a:p>
        </p:txBody>
      </p:sp>
      <p:sp>
        <p:nvSpPr>
          <p:cNvPr id="16" name="Text 14"/>
          <p:cNvSpPr/>
          <p:nvPr/>
        </p:nvSpPr>
        <p:spPr>
          <a:xfrm>
            <a:off x="4745736" y="1709928"/>
            <a:ext cx="1874520" cy="91440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Month, Budget Revenue, Budget Expenses, Budget COGS, Budget EBITDA</a:t>
            </a:r>
            <a:endParaRPr lang="en-US" sz="900" dirty="0"/>
          </a:p>
        </p:txBody>
      </p:sp>
      <p:sp>
        <p:nvSpPr>
          <p:cNvPr id="17" name="Shape 15"/>
          <p:cNvSpPr/>
          <p:nvPr/>
        </p:nvSpPr>
        <p:spPr>
          <a:xfrm>
            <a:off x="6848856" y="1298448"/>
            <a:ext cx="2011680" cy="1371600"/>
          </a:xfrm>
          <a:prstGeom prst="rect">
            <a:avLst/>
          </a:prstGeom>
          <a:solidFill>
            <a:srgbClr val="F0F4F8"/>
          </a:solidFill>
          <a:ln w="12700">
            <a:solidFill>
              <a:srgbClr val="E2E8F0"/>
            </a:solidFill>
            <a:prstDash val="solid"/>
          </a:ln>
        </p:spPr>
        <p:txBody>
          <a:bodyPr/>
          <a:lstStyle/>
          <a:p>
            <a:endParaRPr lang="en-US"/>
          </a:p>
        </p:txBody>
      </p:sp>
      <p:sp>
        <p:nvSpPr>
          <p:cNvPr id="18" name="Shape 16"/>
          <p:cNvSpPr/>
          <p:nvPr/>
        </p:nvSpPr>
        <p:spPr>
          <a:xfrm>
            <a:off x="6848856" y="1298448"/>
            <a:ext cx="2011680" cy="347472"/>
          </a:xfrm>
          <a:prstGeom prst="rect">
            <a:avLst/>
          </a:prstGeom>
          <a:solidFill>
            <a:srgbClr val="BE185D"/>
          </a:solidFill>
          <a:ln w="12700">
            <a:solidFill>
              <a:srgbClr val="BE185D"/>
            </a:solidFill>
            <a:prstDash val="solid"/>
          </a:ln>
        </p:spPr>
        <p:txBody>
          <a:bodyPr/>
          <a:lstStyle/>
          <a:p>
            <a:endParaRPr lang="en-US"/>
          </a:p>
        </p:txBody>
      </p:sp>
      <p:sp>
        <p:nvSpPr>
          <p:cNvPr id="19" name="Text 17"/>
          <p:cNvSpPr/>
          <p:nvPr/>
        </p:nvSpPr>
        <p:spPr>
          <a:xfrm>
            <a:off x="6922008" y="1335024"/>
            <a:ext cx="18745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KPI Metrics</a:t>
            </a:r>
            <a:endParaRPr lang="en-US" sz="1000" dirty="0"/>
          </a:p>
        </p:txBody>
      </p:sp>
      <p:sp>
        <p:nvSpPr>
          <p:cNvPr id="20" name="Text 18"/>
          <p:cNvSpPr/>
          <p:nvPr/>
        </p:nvSpPr>
        <p:spPr>
          <a:xfrm>
            <a:off x="6922008" y="1709928"/>
            <a:ext cx="1874520" cy="91440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Month, Active Customers, New, Lost, Churn Rate, CAC, ARPC, NRR, Gross Margin</a:t>
            </a:r>
            <a:endParaRPr lang="en-US" sz="900" dirty="0"/>
          </a:p>
        </p:txBody>
      </p:sp>
      <p:sp>
        <p:nvSpPr>
          <p:cNvPr id="21" name="Shape 19"/>
          <p:cNvSpPr/>
          <p:nvPr/>
        </p:nvSpPr>
        <p:spPr>
          <a:xfrm>
            <a:off x="320040" y="2944368"/>
            <a:ext cx="2011680" cy="1371600"/>
          </a:xfrm>
          <a:prstGeom prst="rect">
            <a:avLst/>
          </a:prstGeom>
          <a:solidFill>
            <a:srgbClr val="F0F4F8"/>
          </a:solidFill>
          <a:ln w="12700">
            <a:solidFill>
              <a:srgbClr val="E2E8F0"/>
            </a:solidFill>
            <a:prstDash val="solid"/>
          </a:ln>
        </p:spPr>
        <p:txBody>
          <a:bodyPr/>
          <a:lstStyle/>
          <a:p>
            <a:endParaRPr lang="en-US"/>
          </a:p>
        </p:txBody>
      </p:sp>
      <p:sp>
        <p:nvSpPr>
          <p:cNvPr id="22" name="Shape 20"/>
          <p:cNvSpPr/>
          <p:nvPr/>
        </p:nvSpPr>
        <p:spPr>
          <a:xfrm>
            <a:off x="320040" y="2944368"/>
            <a:ext cx="2011680" cy="347472"/>
          </a:xfrm>
          <a:prstGeom prst="rect">
            <a:avLst/>
          </a:prstGeom>
          <a:solidFill>
            <a:srgbClr val="B45309"/>
          </a:solidFill>
          <a:ln w="12700">
            <a:solidFill>
              <a:srgbClr val="B45309"/>
            </a:solidFill>
            <a:prstDash val="solid"/>
          </a:ln>
        </p:spPr>
        <p:txBody>
          <a:bodyPr/>
          <a:lstStyle/>
          <a:p>
            <a:endParaRPr lang="en-US"/>
          </a:p>
        </p:txBody>
      </p:sp>
      <p:sp>
        <p:nvSpPr>
          <p:cNvPr id="23" name="Text 21"/>
          <p:cNvSpPr/>
          <p:nvPr/>
        </p:nvSpPr>
        <p:spPr>
          <a:xfrm>
            <a:off x="393192" y="2980944"/>
            <a:ext cx="18745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Monthly Summary</a:t>
            </a:r>
            <a:endParaRPr lang="en-US" sz="1000" dirty="0"/>
          </a:p>
        </p:txBody>
      </p:sp>
      <p:sp>
        <p:nvSpPr>
          <p:cNvPr id="24" name="Text 22"/>
          <p:cNvSpPr/>
          <p:nvPr/>
        </p:nvSpPr>
        <p:spPr>
          <a:xfrm>
            <a:off x="393192" y="3355848"/>
            <a:ext cx="1874520" cy="91440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Month, Actual Revenue, Actual Expenses, COGS, Gross Profit, Gross Margin, EBITDA, EBITDA Margin</a:t>
            </a:r>
            <a:endParaRPr lang="en-US" sz="900" dirty="0"/>
          </a:p>
        </p:txBody>
      </p:sp>
      <p:sp>
        <p:nvSpPr>
          <p:cNvPr id="25" name="Shape 23"/>
          <p:cNvSpPr/>
          <p:nvPr/>
        </p:nvSpPr>
        <p:spPr>
          <a:xfrm>
            <a:off x="2496312" y="2944368"/>
            <a:ext cx="2011680" cy="1371600"/>
          </a:xfrm>
          <a:prstGeom prst="rect">
            <a:avLst/>
          </a:prstGeom>
          <a:solidFill>
            <a:srgbClr val="F0F4F8"/>
          </a:solidFill>
          <a:ln w="12700">
            <a:solidFill>
              <a:srgbClr val="E2E8F0"/>
            </a:solidFill>
            <a:prstDash val="solid"/>
          </a:ln>
        </p:spPr>
        <p:txBody>
          <a:bodyPr/>
          <a:lstStyle/>
          <a:p>
            <a:endParaRPr lang="en-US"/>
          </a:p>
        </p:txBody>
      </p:sp>
      <p:sp>
        <p:nvSpPr>
          <p:cNvPr id="26" name="Shape 24"/>
          <p:cNvSpPr/>
          <p:nvPr/>
        </p:nvSpPr>
        <p:spPr>
          <a:xfrm>
            <a:off x="2496312" y="2944368"/>
            <a:ext cx="2011680" cy="347472"/>
          </a:xfrm>
          <a:prstGeom prst="rect">
            <a:avLst/>
          </a:prstGeom>
          <a:solidFill>
            <a:srgbClr val="15803D"/>
          </a:solidFill>
          <a:ln w="12700">
            <a:solidFill>
              <a:srgbClr val="15803D"/>
            </a:solidFill>
            <a:prstDash val="solid"/>
          </a:ln>
        </p:spPr>
        <p:txBody>
          <a:bodyPr/>
          <a:lstStyle/>
          <a:p>
            <a:endParaRPr lang="en-US"/>
          </a:p>
        </p:txBody>
      </p:sp>
      <p:sp>
        <p:nvSpPr>
          <p:cNvPr id="27" name="Text 25"/>
          <p:cNvSpPr/>
          <p:nvPr/>
        </p:nvSpPr>
        <p:spPr>
          <a:xfrm>
            <a:off x="2569464" y="2980944"/>
            <a:ext cx="18745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Scenario Inputs</a:t>
            </a:r>
            <a:endParaRPr lang="en-US" sz="1000" dirty="0"/>
          </a:p>
        </p:txBody>
      </p:sp>
      <p:sp>
        <p:nvSpPr>
          <p:cNvPr id="28" name="Text 26"/>
          <p:cNvSpPr/>
          <p:nvPr/>
        </p:nvSpPr>
        <p:spPr>
          <a:xfrm>
            <a:off x="2569464" y="3355848"/>
            <a:ext cx="1874520" cy="91440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Scenario, Growth Rate, Churn Rate, Pricing Change, Payroll Inflation, Marketing Change</a:t>
            </a:r>
            <a:endParaRPr lang="en-US" sz="900" dirty="0"/>
          </a:p>
        </p:txBody>
      </p:sp>
      <p:sp>
        <p:nvSpPr>
          <p:cNvPr id="29" name="Shape 27"/>
          <p:cNvSpPr/>
          <p:nvPr/>
        </p:nvSpPr>
        <p:spPr>
          <a:xfrm>
            <a:off x="4672584" y="2944368"/>
            <a:ext cx="2011680" cy="1371600"/>
          </a:xfrm>
          <a:prstGeom prst="rect">
            <a:avLst/>
          </a:prstGeom>
          <a:solidFill>
            <a:srgbClr val="F0F4F8"/>
          </a:solidFill>
          <a:ln w="12700">
            <a:solidFill>
              <a:srgbClr val="E2E8F0"/>
            </a:solidFill>
            <a:prstDash val="solid"/>
          </a:ln>
        </p:spPr>
        <p:txBody>
          <a:bodyPr/>
          <a:lstStyle/>
          <a:p>
            <a:endParaRPr lang="en-US"/>
          </a:p>
        </p:txBody>
      </p:sp>
      <p:sp>
        <p:nvSpPr>
          <p:cNvPr id="30" name="Shape 28"/>
          <p:cNvSpPr/>
          <p:nvPr/>
        </p:nvSpPr>
        <p:spPr>
          <a:xfrm>
            <a:off x="4672584" y="2944368"/>
            <a:ext cx="2011680" cy="347472"/>
          </a:xfrm>
          <a:prstGeom prst="rect">
            <a:avLst/>
          </a:prstGeom>
          <a:solidFill>
            <a:srgbClr val="1E40AF"/>
          </a:solidFill>
          <a:ln w="12700">
            <a:solidFill>
              <a:srgbClr val="1E40AF"/>
            </a:solidFill>
            <a:prstDash val="solid"/>
          </a:ln>
        </p:spPr>
        <p:txBody>
          <a:bodyPr/>
          <a:lstStyle/>
          <a:p>
            <a:endParaRPr lang="en-US"/>
          </a:p>
        </p:txBody>
      </p:sp>
      <p:sp>
        <p:nvSpPr>
          <p:cNvPr id="31" name="Text 29"/>
          <p:cNvSpPr/>
          <p:nvPr/>
        </p:nvSpPr>
        <p:spPr>
          <a:xfrm>
            <a:off x="4745736" y="2980944"/>
            <a:ext cx="1874520" cy="274320"/>
          </a:xfrm>
          <a:prstGeom prst="rect">
            <a:avLst/>
          </a:prstGeom>
          <a:noFill/>
          <a:ln/>
        </p:spPr>
        <p:txBody>
          <a:bodyPr wrap="square"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Customers</a:t>
            </a:r>
            <a:endParaRPr lang="en-US" sz="1000" dirty="0"/>
          </a:p>
        </p:txBody>
      </p:sp>
      <p:sp>
        <p:nvSpPr>
          <p:cNvPr id="32" name="Text 30"/>
          <p:cNvSpPr/>
          <p:nvPr/>
        </p:nvSpPr>
        <p:spPr>
          <a:xfrm>
            <a:off x="4745736" y="3355848"/>
            <a:ext cx="1874520" cy="914400"/>
          </a:xfrm>
          <a:prstGeom prst="rect">
            <a:avLst/>
          </a:prstGeom>
          <a:noFill/>
          <a:ln/>
        </p:spPr>
        <p:txBody>
          <a:bodyPr wrap="square" rtlCol="0" anchor="ctr"/>
          <a:lstStyle/>
          <a:p>
            <a:pPr marL="0" indent="0">
              <a:buNone/>
            </a:pPr>
            <a:r>
              <a:rPr lang="en-US" sz="900" dirty="0">
                <a:solidFill>
                  <a:srgbClr val="475569"/>
                </a:solidFill>
                <a:latin typeface="Calibri" pitchFamily="34" charset="0"/>
                <a:ea typeface="Calibri" pitchFamily="34" charset="-122"/>
                <a:cs typeface="Calibri" pitchFamily="34" charset="-120"/>
              </a:rPr>
              <a:t>Customer ID, Name, Segment, Onboard Date, Plan Type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9488"/>
          </a:solidFill>
          <a:ln w="12700">
            <a:solidFill>
              <a:srgbClr val="0D9488"/>
            </a:solidFill>
            <a:prstDash val="solid"/>
          </a:ln>
        </p:spPr>
        <p:txBody>
          <a:bodyPr/>
          <a:lstStyle/>
          <a:p>
            <a:endParaRPr lang="en-US"/>
          </a:p>
        </p:txBody>
      </p:sp>
      <p:sp>
        <p:nvSpPr>
          <p:cNvPr id="3" name="Text 1"/>
          <p:cNvSpPr/>
          <p:nvPr/>
        </p:nvSpPr>
        <p:spPr>
          <a:xfrm>
            <a:off x="365760" y="91440"/>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libri" pitchFamily="34" charset="0"/>
                <a:ea typeface="Calibri" pitchFamily="34" charset="-122"/>
                <a:cs typeface="Calibri" pitchFamily="34" charset="-120"/>
              </a:rPr>
              <a:t>Power BI Dashboard</a:t>
            </a:r>
            <a:endParaRPr lang="en-US" sz="2200" dirty="0"/>
          </a:p>
        </p:txBody>
      </p:sp>
      <p:pic>
        <p:nvPicPr>
          <p:cNvPr id="4" name="Image 0" descr="preencoded.png"/>
          <p:cNvPicPr>
            <a:picLocks noChangeAspect="1"/>
          </p:cNvPicPr>
          <p:nvPr/>
        </p:nvPicPr>
        <p:blipFill>
          <a:blip r:embed="rId3"/>
          <a:srcRect/>
          <a:stretch/>
        </p:blipFill>
        <p:spPr>
          <a:xfrm>
            <a:off x="228600" y="822960"/>
            <a:ext cx="6400800" cy="3611880"/>
          </a:xfrm>
          <a:prstGeom prst="rect">
            <a:avLst/>
          </a:prstGeom>
        </p:spPr>
      </p:pic>
      <p:sp>
        <p:nvSpPr>
          <p:cNvPr id="5" name="Shape 2"/>
          <p:cNvSpPr/>
          <p:nvPr/>
        </p:nvSpPr>
        <p:spPr>
          <a:xfrm>
            <a:off x="6812280" y="841248"/>
            <a:ext cx="2148840" cy="512064"/>
          </a:xfrm>
          <a:prstGeom prst="rect">
            <a:avLst/>
          </a:prstGeom>
          <a:solidFill>
            <a:srgbClr val="1E3A5F"/>
          </a:solidFill>
          <a:ln w="12700">
            <a:solidFill>
              <a:srgbClr val="2A4A7F"/>
            </a:solidFill>
            <a:prstDash val="solid"/>
          </a:ln>
        </p:spPr>
        <p:txBody>
          <a:bodyPr/>
          <a:lstStyle/>
          <a:p>
            <a:endParaRPr lang="en-US"/>
          </a:p>
        </p:txBody>
      </p:sp>
      <p:sp>
        <p:nvSpPr>
          <p:cNvPr id="6" name="Shape 3"/>
          <p:cNvSpPr/>
          <p:nvPr/>
        </p:nvSpPr>
        <p:spPr>
          <a:xfrm>
            <a:off x="6812280" y="841248"/>
            <a:ext cx="45720" cy="512064"/>
          </a:xfrm>
          <a:prstGeom prst="rect">
            <a:avLst/>
          </a:prstGeom>
          <a:solidFill>
            <a:srgbClr val="0D9488"/>
          </a:solidFill>
          <a:ln w="12700">
            <a:solidFill>
              <a:srgbClr val="0D9488"/>
            </a:solidFill>
            <a:prstDash val="solid"/>
          </a:ln>
        </p:spPr>
        <p:txBody>
          <a:bodyPr/>
          <a:lstStyle/>
          <a:p>
            <a:endParaRPr lang="en-US"/>
          </a:p>
        </p:txBody>
      </p:sp>
      <p:sp>
        <p:nvSpPr>
          <p:cNvPr id="7" name="Text 4"/>
          <p:cNvSpPr/>
          <p:nvPr/>
        </p:nvSpPr>
        <p:spPr>
          <a:xfrm>
            <a:off x="6949440" y="859536"/>
            <a:ext cx="1920240" cy="201168"/>
          </a:xfrm>
          <a:prstGeom prst="rect">
            <a:avLst/>
          </a:prstGeom>
          <a:noFill/>
          <a:ln/>
        </p:spPr>
        <p:txBody>
          <a:bodyPr wrap="square" rtlCol="0" anchor="ctr"/>
          <a:lstStyle/>
          <a:p>
            <a:pPr marL="0" indent="0">
              <a:buNone/>
            </a:pPr>
            <a:r>
              <a:rPr lang="en-US" sz="1000" b="1" dirty="0">
                <a:solidFill>
                  <a:srgbClr val="14B8A6"/>
                </a:solidFill>
                <a:latin typeface="Calibri" pitchFamily="34" charset="0"/>
                <a:ea typeface="Calibri" pitchFamily="34" charset="-122"/>
                <a:cs typeface="Calibri" pitchFamily="34" charset="-120"/>
              </a:rPr>
              <a:t>KPI Cards</a:t>
            </a:r>
            <a:endParaRPr lang="en-US" sz="1000" dirty="0"/>
          </a:p>
        </p:txBody>
      </p:sp>
      <p:sp>
        <p:nvSpPr>
          <p:cNvPr id="8" name="Text 5"/>
          <p:cNvSpPr/>
          <p:nvPr/>
        </p:nvSpPr>
        <p:spPr>
          <a:xfrm>
            <a:off x="6949440" y="1078992"/>
            <a:ext cx="1920240" cy="201168"/>
          </a:xfrm>
          <a:prstGeom prst="rect">
            <a:avLst/>
          </a:prstGeom>
          <a:noFill/>
          <a:ln/>
        </p:spPr>
        <p:txBody>
          <a:bodyPr wrap="square" rtlCol="0" anchor="ctr"/>
          <a:lstStyle/>
          <a:p>
            <a:pPr marL="0" indent="0">
              <a:buNone/>
            </a:pPr>
            <a:r>
              <a:rPr lang="en-US" sz="900" dirty="0">
                <a:solidFill>
                  <a:srgbClr val="A0B4C8"/>
                </a:solidFill>
                <a:latin typeface="Calibri" pitchFamily="34" charset="0"/>
                <a:ea typeface="Calibri" pitchFamily="34" charset="-122"/>
                <a:cs typeface="Calibri" pitchFamily="34" charset="-120"/>
              </a:rPr>
              <a:t>Revenue · Margin · EBITDA · Customers · Churn</a:t>
            </a:r>
            <a:endParaRPr lang="en-US" sz="900" dirty="0"/>
          </a:p>
        </p:txBody>
      </p:sp>
      <p:sp>
        <p:nvSpPr>
          <p:cNvPr id="9" name="Shape 6"/>
          <p:cNvSpPr/>
          <p:nvPr/>
        </p:nvSpPr>
        <p:spPr>
          <a:xfrm>
            <a:off x="6812280" y="1463040"/>
            <a:ext cx="2148840" cy="512064"/>
          </a:xfrm>
          <a:prstGeom prst="rect">
            <a:avLst/>
          </a:prstGeom>
          <a:solidFill>
            <a:srgbClr val="1E3A5F"/>
          </a:solidFill>
          <a:ln w="12700">
            <a:solidFill>
              <a:srgbClr val="2A4A7F"/>
            </a:solidFill>
            <a:prstDash val="solid"/>
          </a:ln>
        </p:spPr>
        <p:txBody>
          <a:bodyPr/>
          <a:lstStyle/>
          <a:p>
            <a:endParaRPr lang="en-US"/>
          </a:p>
        </p:txBody>
      </p:sp>
      <p:sp>
        <p:nvSpPr>
          <p:cNvPr id="10" name="Shape 7"/>
          <p:cNvSpPr/>
          <p:nvPr/>
        </p:nvSpPr>
        <p:spPr>
          <a:xfrm>
            <a:off x="6812280" y="1463040"/>
            <a:ext cx="45720" cy="512064"/>
          </a:xfrm>
          <a:prstGeom prst="rect">
            <a:avLst/>
          </a:prstGeom>
          <a:solidFill>
            <a:srgbClr val="0D9488"/>
          </a:solidFill>
          <a:ln w="12700">
            <a:solidFill>
              <a:srgbClr val="0D9488"/>
            </a:solidFill>
            <a:prstDash val="solid"/>
          </a:ln>
        </p:spPr>
        <p:txBody>
          <a:bodyPr/>
          <a:lstStyle/>
          <a:p>
            <a:endParaRPr lang="en-US"/>
          </a:p>
        </p:txBody>
      </p:sp>
      <p:sp>
        <p:nvSpPr>
          <p:cNvPr id="11" name="Text 8"/>
          <p:cNvSpPr/>
          <p:nvPr/>
        </p:nvSpPr>
        <p:spPr>
          <a:xfrm>
            <a:off x="6949440" y="1481328"/>
            <a:ext cx="1920240" cy="201168"/>
          </a:xfrm>
          <a:prstGeom prst="rect">
            <a:avLst/>
          </a:prstGeom>
          <a:noFill/>
          <a:ln/>
        </p:spPr>
        <p:txBody>
          <a:bodyPr wrap="square" rtlCol="0" anchor="ctr"/>
          <a:lstStyle/>
          <a:p>
            <a:pPr marL="0" indent="0">
              <a:buNone/>
            </a:pPr>
            <a:r>
              <a:rPr lang="en-US" sz="1000" b="1" dirty="0">
                <a:solidFill>
                  <a:srgbClr val="14B8A6"/>
                </a:solidFill>
                <a:latin typeface="Calibri" pitchFamily="34" charset="0"/>
                <a:ea typeface="Calibri" pitchFamily="34" charset="-122"/>
                <a:cs typeface="Calibri" pitchFamily="34" charset="-120"/>
              </a:rPr>
              <a:t>Month Slicer</a:t>
            </a:r>
            <a:endParaRPr lang="en-US" sz="1000" dirty="0"/>
          </a:p>
        </p:txBody>
      </p:sp>
      <p:sp>
        <p:nvSpPr>
          <p:cNvPr id="12" name="Text 9"/>
          <p:cNvSpPr/>
          <p:nvPr/>
        </p:nvSpPr>
        <p:spPr>
          <a:xfrm>
            <a:off x="6949440" y="1700784"/>
            <a:ext cx="1920240" cy="201168"/>
          </a:xfrm>
          <a:prstGeom prst="rect">
            <a:avLst/>
          </a:prstGeom>
          <a:noFill/>
          <a:ln/>
        </p:spPr>
        <p:txBody>
          <a:bodyPr wrap="square" rtlCol="0" anchor="ctr"/>
          <a:lstStyle/>
          <a:p>
            <a:pPr marL="0" indent="0">
              <a:buNone/>
            </a:pPr>
            <a:r>
              <a:rPr lang="en-US" sz="900" dirty="0">
                <a:solidFill>
                  <a:srgbClr val="A0B4C8"/>
                </a:solidFill>
                <a:latin typeface="Calibri" pitchFamily="34" charset="0"/>
                <a:ea typeface="Calibri" pitchFamily="34" charset="-122"/>
                <a:cs typeface="Calibri" pitchFamily="34" charset="-120"/>
              </a:rPr>
              <a:t>Filter all panels by Jan–Jun 2024</a:t>
            </a:r>
            <a:endParaRPr lang="en-US" sz="900" dirty="0"/>
          </a:p>
        </p:txBody>
      </p:sp>
      <p:sp>
        <p:nvSpPr>
          <p:cNvPr id="13" name="Shape 10"/>
          <p:cNvSpPr/>
          <p:nvPr/>
        </p:nvSpPr>
        <p:spPr>
          <a:xfrm>
            <a:off x="6812280" y="2084832"/>
            <a:ext cx="2148840" cy="512064"/>
          </a:xfrm>
          <a:prstGeom prst="rect">
            <a:avLst/>
          </a:prstGeom>
          <a:solidFill>
            <a:srgbClr val="1E3A5F"/>
          </a:solidFill>
          <a:ln w="12700">
            <a:solidFill>
              <a:srgbClr val="2A4A7F"/>
            </a:solidFill>
            <a:prstDash val="solid"/>
          </a:ln>
        </p:spPr>
        <p:txBody>
          <a:bodyPr/>
          <a:lstStyle/>
          <a:p>
            <a:endParaRPr lang="en-US"/>
          </a:p>
        </p:txBody>
      </p:sp>
      <p:sp>
        <p:nvSpPr>
          <p:cNvPr id="14" name="Shape 11"/>
          <p:cNvSpPr/>
          <p:nvPr/>
        </p:nvSpPr>
        <p:spPr>
          <a:xfrm>
            <a:off x="6812280" y="2084832"/>
            <a:ext cx="45720" cy="512064"/>
          </a:xfrm>
          <a:prstGeom prst="rect">
            <a:avLst/>
          </a:prstGeom>
          <a:solidFill>
            <a:srgbClr val="0D9488"/>
          </a:solidFill>
          <a:ln w="12700">
            <a:solidFill>
              <a:srgbClr val="0D9488"/>
            </a:solidFill>
            <a:prstDash val="solid"/>
          </a:ln>
        </p:spPr>
        <p:txBody>
          <a:bodyPr/>
          <a:lstStyle/>
          <a:p>
            <a:endParaRPr lang="en-US"/>
          </a:p>
        </p:txBody>
      </p:sp>
      <p:sp>
        <p:nvSpPr>
          <p:cNvPr id="15" name="Text 12"/>
          <p:cNvSpPr/>
          <p:nvPr/>
        </p:nvSpPr>
        <p:spPr>
          <a:xfrm>
            <a:off x="6949440" y="2103120"/>
            <a:ext cx="1920240" cy="201168"/>
          </a:xfrm>
          <a:prstGeom prst="rect">
            <a:avLst/>
          </a:prstGeom>
          <a:noFill/>
          <a:ln/>
        </p:spPr>
        <p:txBody>
          <a:bodyPr wrap="square" rtlCol="0" anchor="ctr"/>
          <a:lstStyle/>
          <a:p>
            <a:pPr marL="0" indent="0">
              <a:buNone/>
            </a:pPr>
            <a:r>
              <a:rPr lang="en-US" sz="1000" b="1" dirty="0">
                <a:solidFill>
                  <a:srgbClr val="14B8A6"/>
                </a:solidFill>
                <a:latin typeface="Calibri" pitchFamily="34" charset="0"/>
                <a:ea typeface="Calibri" pitchFamily="34" charset="-122"/>
                <a:cs typeface="Calibri" pitchFamily="34" charset="-120"/>
              </a:rPr>
              <a:t>Revenue Trend</a:t>
            </a:r>
            <a:endParaRPr lang="en-US" sz="1000" dirty="0"/>
          </a:p>
        </p:txBody>
      </p:sp>
      <p:sp>
        <p:nvSpPr>
          <p:cNvPr id="16" name="Text 13"/>
          <p:cNvSpPr/>
          <p:nvPr/>
        </p:nvSpPr>
        <p:spPr>
          <a:xfrm>
            <a:off x="6949440" y="2322576"/>
            <a:ext cx="1920240" cy="201168"/>
          </a:xfrm>
          <a:prstGeom prst="rect">
            <a:avLst/>
          </a:prstGeom>
          <a:noFill/>
          <a:ln/>
        </p:spPr>
        <p:txBody>
          <a:bodyPr wrap="square" rtlCol="0" anchor="ctr"/>
          <a:lstStyle/>
          <a:p>
            <a:pPr marL="0" indent="0">
              <a:buNone/>
            </a:pPr>
            <a:r>
              <a:rPr lang="en-US" sz="900" dirty="0">
                <a:solidFill>
                  <a:srgbClr val="A0B4C8"/>
                </a:solidFill>
                <a:latin typeface="Calibri" pitchFamily="34" charset="0"/>
                <a:ea typeface="Calibri" pitchFamily="34" charset="-122"/>
                <a:cs typeface="Calibri" pitchFamily="34" charset="-120"/>
              </a:rPr>
              <a:t>Monthly growth from Jan to Jun</a:t>
            </a:r>
            <a:endParaRPr lang="en-US" sz="900" dirty="0"/>
          </a:p>
        </p:txBody>
      </p:sp>
      <p:sp>
        <p:nvSpPr>
          <p:cNvPr id="17" name="Shape 14"/>
          <p:cNvSpPr/>
          <p:nvPr/>
        </p:nvSpPr>
        <p:spPr>
          <a:xfrm>
            <a:off x="6812280" y="2706624"/>
            <a:ext cx="2148840" cy="512064"/>
          </a:xfrm>
          <a:prstGeom prst="rect">
            <a:avLst/>
          </a:prstGeom>
          <a:solidFill>
            <a:srgbClr val="1E3A5F"/>
          </a:solidFill>
          <a:ln w="12700">
            <a:solidFill>
              <a:srgbClr val="2A4A7F"/>
            </a:solidFill>
            <a:prstDash val="solid"/>
          </a:ln>
        </p:spPr>
        <p:txBody>
          <a:bodyPr/>
          <a:lstStyle/>
          <a:p>
            <a:endParaRPr lang="en-US"/>
          </a:p>
        </p:txBody>
      </p:sp>
      <p:sp>
        <p:nvSpPr>
          <p:cNvPr id="18" name="Shape 15"/>
          <p:cNvSpPr/>
          <p:nvPr/>
        </p:nvSpPr>
        <p:spPr>
          <a:xfrm>
            <a:off x="6812280" y="2706624"/>
            <a:ext cx="45720" cy="512064"/>
          </a:xfrm>
          <a:prstGeom prst="rect">
            <a:avLst/>
          </a:prstGeom>
          <a:solidFill>
            <a:srgbClr val="0D9488"/>
          </a:solidFill>
          <a:ln w="12700">
            <a:solidFill>
              <a:srgbClr val="0D9488"/>
            </a:solidFill>
            <a:prstDash val="solid"/>
          </a:ln>
        </p:spPr>
        <p:txBody>
          <a:bodyPr/>
          <a:lstStyle/>
          <a:p>
            <a:endParaRPr lang="en-US"/>
          </a:p>
        </p:txBody>
      </p:sp>
      <p:sp>
        <p:nvSpPr>
          <p:cNvPr id="19" name="Text 16"/>
          <p:cNvSpPr/>
          <p:nvPr/>
        </p:nvSpPr>
        <p:spPr>
          <a:xfrm>
            <a:off x="6949440" y="2724912"/>
            <a:ext cx="1920240" cy="201168"/>
          </a:xfrm>
          <a:prstGeom prst="rect">
            <a:avLst/>
          </a:prstGeom>
          <a:noFill/>
          <a:ln/>
        </p:spPr>
        <p:txBody>
          <a:bodyPr wrap="square" rtlCol="0" anchor="ctr"/>
          <a:lstStyle/>
          <a:p>
            <a:pPr marL="0" indent="0">
              <a:buNone/>
            </a:pPr>
            <a:r>
              <a:rPr lang="en-US" sz="1000" b="1" dirty="0">
                <a:solidFill>
                  <a:srgbClr val="14B8A6"/>
                </a:solidFill>
                <a:latin typeface="Calibri" pitchFamily="34" charset="0"/>
                <a:ea typeface="Calibri" pitchFamily="34" charset="-122"/>
                <a:cs typeface="Calibri" pitchFamily="34" charset="-120"/>
              </a:rPr>
              <a:t>Budget vs Actual</a:t>
            </a:r>
            <a:endParaRPr lang="en-US" sz="1000" dirty="0"/>
          </a:p>
        </p:txBody>
      </p:sp>
      <p:sp>
        <p:nvSpPr>
          <p:cNvPr id="20" name="Text 17"/>
          <p:cNvSpPr/>
          <p:nvPr/>
        </p:nvSpPr>
        <p:spPr>
          <a:xfrm>
            <a:off x="6949440" y="2944368"/>
            <a:ext cx="1920240" cy="201168"/>
          </a:xfrm>
          <a:prstGeom prst="rect">
            <a:avLst/>
          </a:prstGeom>
          <a:noFill/>
          <a:ln/>
        </p:spPr>
        <p:txBody>
          <a:bodyPr wrap="square" rtlCol="0" anchor="ctr"/>
          <a:lstStyle/>
          <a:p>
            <a:pPr marL="0" indent="0">
              <a:buNone/>
            </a:pPr>
            <a:r>
              <a:rPr lang="en-US" sz="900" dirty="0">
                <a:solidFill>
                  <a:srgbClr val="A0B4C8"/>
                </a:solidFill>
                <a:latin typeface="Calibri" pitchFamily="34" charset="0"/>
                <a:ea typeface="Calibri" pitchFamily="34" charset="-122"/>
                <a:cs typeface="Calibri" pitchFamily="34" charset="-120"/>
              </a:rPr>
              <a:t>Bar comparison by month</a:t>
            </a:r>
            <a:endParaRPr lang="en-US" sz="900" dirty="0"/>
          </a:p>
        </p:txBody>
      </p:sp>
      <p:sp>
        <p:nvSpPr>
          <p:cNvPr id="21" name="Shape 18"/>
          <p:cNvSpPr/>
          <p:nvPr/>
        </p:nvSpPr>
        <p:spPr>
          <a:xfrm>
            <a:off x="6812280" y="3328416"/>
            <a:ext cx="2148840" cy="512064"/>
          </a:xfrm>
          <a:prstGeom prst="rect">
            <a:avLst/>
          </a:prstGeom>
          <a:solidFill>
            <a:srgbClr val="1E3A5F"/>
          </a:solidFill>
          <a:ln w="12700">
            <a:solidFill>
              <a:srgbClr val="2A4A7F"/>
            </a:solidFill>
            <a:prstDash val="solid"/>
          </a:ln>
        </p:spPr>
        <p:txBody>
          <a:bodyPr/>
          <a:lstStyle/>
          <a:p>
            <a:endParaRPr lang="en-US"/>
          </a:p>
        </p:txBody>
      </p:sp>
      <p:sp>
        <p:nvSpPr>
          <p:cNvPr id="22" name="Shape 19"/>
          <p:cNvSpPr/>
          <p:nvPr/>
        </p:nvSpPr>
        <p:spPr>
          <a:xfrm>
            <a:off x="6812280" y="3328416"/>
            <a:ext cx="45720" cy="512064"/>
          </a:xfrm>
          <a:prstGeom prst="rect">
            <a:avLst/>
          </a:prstGeom>
          <a:solidFill>
            <a:srgbClr val="0D9488"/>
          </a:solidFill>
          <a:ln w="12700">
            <a:solidFill>
              <a:srgbClr val="0D9488"/>
            </a:solidFill>
            <a:prstDash val="solid"/>
          </a:ln>
        </p:spPr>
        <p:txBody>
          <a:bodyPr/>
          <a:lstStyle/>
          <a:p>
            <a:endParaRPr lang="en-US"/>
          </a:p>
        </p:txBody>
      </p:sp>
      <p:sp>
        <p:nvSpPr>
          <p:cNvPr id="23" name="Text 20"/>
          <p:cNvSpPr/>
          <p:nvPr/>
        </p:nvSpPr>
        <p:spPr>
          <a:xfrm>
            <a:off x="6949440" y="3346704"/>
            <a:ext cx="1920240" cy="201168"/>
          </a:xfrm>
          <a:prstGeom prst="rect">
            <a:avLst/>
          </a:prstGeom>
          <a:noFill/>
          <a:ln/>
        </p:spPr>
        <p:txBody>
          <a:bodyPr wrap="square" rtlCol="0" anchor="ctr"/>
          <a:lstStyle/>
          <a:p>
            <a:pPr marL="0" indent="0">
              <a:buNone/>
            </a:pPr>
            <a:r>
              <a:rPr lang="en-US" sz="1000" b="1" dirty="0">
                <a:solidFill>
                  <a:srgbClr val="14B8A6"/>
                </a:solidFill>
                <a:latin typeface="Calibri" pitchFamily="34" charset="0"/>
                <a:ea typeface="Calibri" pitchFamily="34" charset="-122"/>
                <a:cs typeface="Calibri" pitchFamily="34" charset="-120"/>
              </a:rPr>
              <a:t>Expense Mix</a:t>
            </a:r>
            <a:endParaRPr lang="en-US" sz="1000" dirty="0"/>
          </a:p>
        </p:txBody>
      </p:sp>
      <p:sp>
        <p:nvSpPr>
          <p:cNvPr id="24" name="Text 21"/>
          <p:cNvSpPr/>
          <p:nvPr/>
        </p:nvSpPr>
        <p:spPr>
          <a:xfrm>
            <a:off x="6949440" y="3566160"/>
            <a:ext cx="1920240" cy="201168"/>
          </a:xfrm>
          <a:prstGeom prst="rect">
            <a:avLst/>
          </a:prstGeom>
          <a:noFill/>
          <a:ln/>
        </p:spPr>
        <p:txBody>
          <a:bodyPr wrap="square" rtlCol="0" anchor="ctr"/>
          <a:lstStyle/>
          <a:p>
            <a:pPr marL="0" indent="0">
              <a:buNone/>
            </a:pPr>
            <a:r>
              <a:rPr lang="en-US" sz="900" dirty="0">
                <a:solidFill>
                  <a:srgbClr val="A0B4C8"/>
                </a:solidFill>
                <a:latin typeface="Calibri" pitchFamily="34" charset="0"/>
                <a:ea typeface="Calibri" pitchFamily="34" charset="-122"/>
                <a:cs typeface="Calibri" pitchFamily="34" charset="-120"/>
              </a:rPr>
              <a:t>Donut chart by category</a:t>
            </a:r>
            <a:endParaRPr lang="en-US" sz="900" dirty="0"/>
          </a:p>
        </p:txBody>
      </p:sp>
      <p:sp>
        <p:nvSpPr>
          <p:cNvPr id="25" name="Shape 22"/>
          <p:cNvSpPr/>
          <p:nvPr/>
        </p:nvSpPr>
        <p:spPr>
          <a:xfrm>
            <a:off x="6812280" y="3950208"/>
            <a:ext cx="2148840" cy="512064"/>
          </a:xfrm>
          <a:prstGeom prst="rect">
            <a:avLst/>
          </a:prstGeom>
          <a:solidFill>
            <a:srgbClr val="1E3A5F"/>
          </a:solidFill>
          <a:ln w="12700">
            <a:solidFill>
              <a:srgbClr val="2A4A7F"/>
            </a:solidFill>
            <a:prstDash val="solid"/>
          </a:ln>
        </p:spPr>
        <p:txBody>
          <a:bodyPr/>
          <a:lstStyle/>
          <a:p>
            <a:endParaRPr lang="en-US"/>
          </a:p>
        </p:txBody>
      </p:sp>
      <p:sp>
        <p:nvSpPr>
          <p:cNvPr id="26" name="Shape 23"/>
          <p:cNvSpPr/>
          <p:nvPr/>
        </p:nvSpPr>
        <p:spPr>
          <a:xfrm>
            <a:off x="6812280" y="3950208"/>
            <a:ext cx="45720" cy="512064"/>
          </a:xfrm>
          <a:prstGeom prst="rect">
            <a:avLst/>
          </a:prstGeom>
          <a:solidFill>
            <a:srgbClr val="0D9488"/>
          </a:solidFill>
          <a:ln w="12700">
            <a:solidFill>
              <a:srgbClr val="0D9488"/>
            </a:solidFill>
            <a:prstDash val="solid"/>
          </a:ln>
        </p:spPr>
        <p:txBody>
          <a:bodyPr/>
          <a:lstStyle/>
          <a:p>
            <a:endParaRPr lang="en-US"/>
          </a:p>
        </p:txBody>
      </p:sp>
      <p:sp>
        <p:nvSpPr>
          <p:cNvPr id="27" name="Text 24"/>
          <p:cNvSpPr/>
          <p:nvPr/>
        </p:nvSpPr>
        <p:spPr>
          <a:xfrm>
            <a:off x="6949440" y="3968496"/>
            <a:ext cx="1920240" cy="201168"/>
          </a:xfrm>
          <a:prstGeom prst="rect">
            <a:avLst/>
          </a:prstGeom>
          <a:noFill/>
          <a:ln/>
        </p:spPr>
        <p:txBody>
          <a:bodyPr wrap="square" rtlCol="0" anchor="ctr"/>
          <a:lstStyle/>
          <a:p>
            <a:pPr marL="0" indent="0">
              <a:buNone/>
            </a:pPr>
            <a:r>
              <a:rPr lang="en-US" sz="1000" b="1" dirty="0">
                <a:solidFill>
                  <a:srgbClr val="14B8A6"/>
                </a:solidFill>
                <a:latin typeface="Calibri" pitchFamily="34" charset="0"/>
                <a:ea typeface="Calibri" pitchFamily="34" charset="-122"/>
                <a:cs typeface="Calibri" pitchFamily="34" charset="-120"/>
              </a:rPr>
              <a:t>CAC Trend</a:t>
            </a:r>
            <a:endParaRPr lang="en-US" sz="1000" dirty="0"/>
          </a:p>
        </p:txBody>
      </p:sp>
      <p:sp>
        <p:nvSpPr>
          <p:cNvPr id="28" name="Text 25"/>
          <p:cNvSpPr/>
          <p:nvPr/>
        </p:nvSpPr>
        <p:spPr>
          <a:xfrm>
            <a:off x="6949440" y="4187952"/>
            <a:ext cx="1920240" cy="201168"/>
          </a:xfrm>
          <a:prstGeom prst="rect">
            <a:avLst/>
          </a:prstGeom>
          <a:noFill/>
          <a:ln/>
        </p:spPr>
        <p:txBody>
          <a:bodyPr wrap="square" rtlCol="0" anchor="ctr"/>
          <a:lstStyle/>
          <a:p>
            <a:pPr marL="0" indent="0">
              <a:buNone/>
            </a:pPr>
            <a:r>
              <a:rPr lang="en-US" sz="900" dirty="0">
                <a:solidFill>
                  <a:srgbClr val="A0B4C8"/>
                </a:solidFill>
                <a:latin typeface="Calibri" pitchFamily="34" charset="0"/>
                <a:ea typeface="Calibri" pitchFamily="34" charset="-122"/>
                <a:cs typeface="Calibri" pitchFamily="34" charset="-120"/>
              </a:rPr>
              <a:t>Acquisition cost trajectory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Key Insights</a:t>
            </a:r>
            <a:endParaRPr lang="en-US" sz="2400" dirty="0"/>
          </a:p>
        </p:txBody>
      </p:sp>
      <p:sp>
        <p:nvSpPr>
          <p:cNvPr id="4" name="Shape 2"/>
          <p:cNvSpPr/>
          <p:nvPr/>
        </p:nvSpPr>
        <p:spPr>
          <a:xfrm>
            <a:off x="320040" y="960120"/>
            <a:ext cx="4114800" cy="1234440"/>
          </a:xfrm>
          <a:prstGeom prst="rect">
            <a:avLst/>
          </a:prstGeom>
          <a:solidFill>
            <a:srgbClr val="F0F4F8"/>
          </a:solidFill>
          <a:ln w="1270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5" name="Shape 3"/>
          <p:cNvSpPr/>
          <p:nvPr/>
        </p:nvSpPr>
        <p:spPr>
          <a:xfrm>
            <a:off x="411480" y="1051560"/>
            <a:ext cx="502920" cy="502920"/>
          </a:xfrm>
          <a:prstGeom prst="ellipse">
            <a:avLst/>
          </a:prstGeom>
          <a:solidFill>
            <a:srgbClr val="15803D"/>
          </a:solidFill>
          <a:ln w="12700">
            <a:solidFill>
              <a:srgbClr val="15803D"/>
            </a:solidFill>
            <a:prstDash val="solid"/>
          </a:ln>
        </p:spPr>
        <p:txBody>
          <a:bodyPr/>
          <a:lstStyle/>
          <a:p>
            <a:endParaRPr lang="en-US"/>
          </a:p>
        </p:txBody>
      </p:sp>
      <p:sp>
        <p:nvSpPr>
          <p:cNvPr id="6" name="Text 4"/>
          <p:cNvSpPr/>
          <p:nvPr/>
        </p:nvSpPr>
        <p:spPr>
          <a:xfrm>
            <a:off x="411480" y="1051560"/>
            <a:ext cx="50292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Shape 5"/>
          <p:cNvSpPr/>
          <p:nvPr/>
        </p:nvSpPr>
        <p:spPr>
          <a:xfrm>
            <a:off x="3246120" y="1033272"/>
            <a:ext cx="1097280" cy="411480"/>
          </a:xfrm>
          <a:prstGeom prst="rect">
            <a:avLst/>
          </a:prstGeom>
          <a:solidFill>
            <a:srgbClr val="15803D"/>
          </a:solidFill>
          <a:ln w="12700">
            <a:solidFill>
              <a:srgbClr val="15803D"/>
            </a:solidFill>
            <a:prstDash val="solid"/>
          </a:ln>
        </p:spPr>
        <p:txBody>
          <a:bodyPr/>
          <a:lstStyle/>
          <a:p>
            <a:endParaRPr lang="en-US"/>
          </a:p>
        </p:txBody>
      </p:sp>
      <p:sp>
        <p:nvSpPr>
          <p:cNvPr id="8" name="Text 6"/>
          <p:cNvSpPr/>
          <p:nvPr/>
        </p:nvSpPr>
        <p:spPr>
          <a:xfrm>
            <a:off x="3246120" y="1033272"/>
            <a:ext cx="10972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Strong</a:t>
            </a:r>
            <a:endParaRPr lang="en-US" sz="1300" dirty="0"/>
          </a:p>
        </p:txBody>
      </p:sp>
      <p:sp>
        <p:nvSpPr>
          <p:cNvPr id="9" name="Text 7"/>
          <p:cNvSpPr/>
          <p:nvPr/>
        </p:nvSpPr>
        <p:spPr>
          <a:xfrm>
            <a:off x="1033272" y="1024128"/>
            <a:ext cx="2121408"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Revenue Growth</a:t>
            </a:r>
            <a:endParaRPr lang="en-US" sz="1300" dirty="0"/>
          </a:p>
        </p:txBody>
      </p:sp>
      <p:sp>
        <p:nvSpPr>
          <p:cNvPr id="10" name="Text 8"/>
          <p:cNvSpPr/>
          <p:nvPr/>
        </p:nvSpPr>
        <p:spPr>
          <a:xfrm>
            <a:off x="1033272" y="1344168"/>
            <a:ext cx="2121408" cy="219456"/>
          </a:xfrm>
          <a:prstGeom prst="rect">
            <a:avLst/>
          </a:prstGeom>
          <a:noFill/>
          <a:ln/>
        </p:spPr>
        <p:txBody>
          <a:bodyPr wrap="square" rtlCol="0" anchor="ctr"/>
          <a:lstStyle/>
          <a:p>
            <a:pPr marL="0" indent="0">
              <a:buNone/>
            </a:pPr>
            <a:r>
              <a:rPr lang="en-US" sz="1000" i="1" dirty="0">
                <a:solidFill>
                  <a:schemeClr val="tx2"/>
                </a:solidFill>
                <a:latin typeface="Calibri" pitchFamily="34" charset="0"/>
                <a:ea typeface="Calibri" pitchFamily="34" charset="-122"/>
                <a:cs typeface="Calibri" pitchFamily="34" charset="-120"/>
              </a:rPr>
              <a:t>Jan → Jun 2024</a:t>
            </a:r>
            <a:endParaRPr lang="en-US" sz="1000" dirty="0">
              <a:solidFill>
                <a:schemeClr val="tx2"/>
              </a:solidFill>
            </a:endParaRPr>
          </a:p>
        </p:txBody>
      </p:sp>
      <p:sp>
        <p:nvSpPr>
          <p:cNvPr id="11" name="Text 9"/>
          <p:cNvSpPr/>
          <p:nvPr/>
        </p:nvSpPr>
        <p:spPr>
          <a:xfrm>
            <a:off x="411480" y="1618488"/>
            <a:ext cx="3931920" cy="5029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Monthly revenue increased from around $4.2K in Jan to around $9.5K in Jun, driven by new customer onboarding and transaction volume.</a:t>
            </a:r>
            <a:endParaRPr lang="en-US" sz="1000" dirty="0"/>
          </a:p>
        </p:txBody>
      </p:sp>
      <p:sp>
        <p:nvSpPr>
          <p:cNvPr id="12" name="Shape 10"/>
          <p:cNvSpPr/>
          <p:nvPr/>
        </p:nvSpPr>
        <p:spPr>
          <a:xfrm>
            <a:off x="4663440" y="960120"/>
            <a:ext cx="4114800" cy="1234440"/>
          </a:xfrm>
          <a:prstGeom prst="rect">
            <a:avLst/>
          </a:prstGeom>
          <a:solidFill>
            <a:srgbClr val="F0F4F8"/>
          </a:solidFill>
          <a:ln w="1270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13" name="Shape 11"/>
          <p:cNvSpPr/>
          <p:nvPr/>
        </p:nvSpPr>
        <p:spPr>
          <a:xfrm>
            <a:off x="4754880" y="1051560"/>
            <a:ext cx="502920" cy="502920"/>
          </a:xfrm>
          <a:prstGeom prst="ellipse">
            <a:avLst/>
          </a:prstGeom>
          <a:solidFill>
            <a:srgbClr val="DC2626"/>
          </a:solidFill>
          <a:ln w="12700">
            <a:solidFill>
              <a:srgbClr val="DC2626"/>
            </a:solidFill>
            <a:prstDash val="solid"/>
          </a:ln>
        </p:spPr>
        <p:txBody>
          <a:bodyPr/>
          <a:lstStyle/>
          <a:p>
            <a:endParaRPr lang="en-US"/>
          </a:p>
        </p:txBody>
      </p:sp>
      <p:sp>
        <p:nvSpPr>
          <p:cNvPr id="14" name="Text 12"/>
          <p:cNvSpPr/>
          <p:nvPr/>
        </p:nvSpPr>
        <p:spPr>
          <a:xfrm>
            <a:off x="4754880" y="1051560"/>
            <a:ext cx="50292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5" name="Shape 13"/>
          <p:cNvSpPr/>
          <p:nvPr/>
        </p:nvSpPr>
        <p:spPr>
          <a:xfrm>
            <a:off x="7589520" y="1033272"/>
            <a:ext cx="1097280" cy="411480"/>
          </a:xfrm>
          <a:prstGeom prst="rect">
            <a:avLst/>
          </a:prstGeom>
          <a:solidFill>
            <a:srgbClr val="DC2626"/>
          </a:solidFill>
          <a:ln w="12700">
            <a:solidFill>
              <a:srgbClr val="DC2626"/>
            </a:solidFill>
            <a:prstDash val="solid"/>
          </a:ln>
        </p:spPr>
        <p:txBody>
          <a:bodyPr/>
          <a:lstStyle/>
          <a:p>
            <a:endParaRPr lang="en-US"/>
          </a:p>
        </p:txBody>
      </p:sp>
      <p:sp>
        <p:nvSpPr>
          <p:cNvPr id="16" name="Text 14"/>
          <p:cNvSpPr/>
          <p:nvPr/>
        </p:nvSpPr>
        <p:spPr>
          <a:xfrm>
            <a:off x="7589520" y="1033272"/>
            <a:ext cx="10972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–$222K</a:t>
            </a:r>
            <a:endParaRPr lang="en-US" sz="1300" dirty="0"/>
          </a:p>
        </p:txBody>
      </p:sp>
      <p:sp>
        <p:nvSpPr>
          <p:cNvPr id="17" name="Text 15"/>
          <p:cNvSpPr/>
          <p:nvPr/>
        </p:nvSpPr>
        <p:spPr>
          <a:xfrm>
            <a:off x="5376672" y="1024128"/>
            <a:ext cx="2121408"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Total EBITDA</a:t>
            </a:r>
            <a:endParaRPr lang="en-US" sz="1300" dirty="0"/>
          </a:p>
        </p:txBody>
      </p:sp>
      <p:sp>
        <p:nvSpPr>
          <p:cNvPr id="18" name="Text 16"/>
          <p:cNvSpPr/>
          <p:nvPr/>
        </p:nvSpPr>
        <p:spPr>
          <a:xfrm>
            <a:off x="5376672" y="1344168"/>
            <a:ext cx="2121408" cy="219456"/>
          </a:xfrm>
          <a:prstGeom prst="rect">
            <a:avLst/>
          </a:prstGeom>
          <a:noFill/>
          <a:ln/>
        </p:spPr>
        <p:txBody>
          <a:bodyPr wrap="square" rtlCol="0" anchor="ctr"/>
          <a:lstStyle/>
          <a:p>
            <a:pPr marL="0" indent="0">
              <a:buNone/>
            </a:pPr>
            <a:r>
              <a:rPr lang="en-US" sz="1000" i="1" dirty="0">
                <a:solidFill>
                  <a:schemeClr val="tx2"/>
                </a:solidFill>
                <a:latin typeface="Calibri" pitchFamily="34" charset="0"/>
                <a:ea typeface="Calibri" pitchFamily="34" charset="-122"/>
                <a:cs typeface="Calibri" pitchFamily="34" charset="-120"/>
              </a:rPr>
              <a:t>Analysis Period</a:t>
            </a:r>
            <a:endParaRPr lang="en-US" sz="1000" dirty="0">
              <a:solidFill>
                <a:schemeClr val="tx2"/>
              </a:solidFill>
            </a:endParaRPr>
          </a:p>
        </p:txBody>
      </p:sp>
      <p:sp>
        <p:nvSpPr>
          <p:cNvPr id="19" name="Text 17"/>
          <p:cNvSpPr/>
          <p:nvPr/>
        </p:nvSpPr>
        <p:spPr>
          <a:xfrm>
            <a:off x="4754880" y="1618488"/>
            <a:ext cx="3931920" cy="5029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EBITDA remained negative across the analysis period because operating expenses exceeded revenue throughout.</a:t>
            </a:r>
            <a:endParaRPr lang="en-US" sz="1000" dirty="0"/>
          </a:p>
        </p:txBody>
      </p:sp>
      <p:sp>
        <p:nvSpPr>
          <p:cNvPr id="20" name="Shape 18"/>
          <p:cNvSpPr/>
          <p:nvPr/>
        </p:nvSpPr>
        <p:spPr>
          <a:xfrm>
            <a:off x="320040" y="2331720"/>
            <a:ext cx="4114800" cy="1234440"/>
          </a:xfrm>
          <a:prstGeom prst="rect">
            <a:avLst/>
          </a:prstGeom>
          <a:solidFill>
            <a:srgbClr val="F0F4F8"/>
          </a:solidFill>
          <a:ln w="1270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1" name="Shape 19"/>
          <p:cNvSpPr/>
          <p:nvPr/>
        </p:nvSpPr>
        <p:spPr>
          <a:xfrm>
            <a:off x="411480" y="2423160"/>
            <a:ext cx="502920" cy="502920"/>
          </a:xfrm>
          <a:prstGeom prst="ellipse">
            <a:avLst/>
          </a:prstGeom>
          <a:solidFill>
            <a:srgbClr val="B45309"/>
          </a:solidFill>
          <a:ln w="12700">
            <a:solidFill>
              <a:srgbClr val="B45309"/>
            </a:solidFill>
            <a:prstDash val="solid"/>
          </a:ln>
        </p:spPr>
        <p:txBody>
          <a:bodyPr/>
          <a:lstStyle/>
          <a:p>
            <a:endParaRPr lang="en-US"/>
          </a:p>
        </p:txBody>
      </p:sp>
      <p:sp>
        <p:nvSpPr>
          <p:cNvPr id="22" name="Text 20"/>
          <p:cNvSpPr/>
          <p:nvPr/>
        </p:nvSpPr>
        <p:spPr>
          <a:xfrm>
            <a:off x="411480" y="2423160"/>
            <a:ext cx="50292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23" name="Shape 21"/>
          <p:cNvSpPr/>
          <p:nvPr/>
        </p:nvSpPr>
        <p:spPr>
          <a:xfrm>
            <a:off x="3246120" y="2404872"/>
            <a:ext cx="1097280" cy="411480"/>
          </a:xfrm>
          <a:prstGeom prst="rect">
            <a:avLst/>
          </a:prstGeom>
          <a:solidFill>
            <a:srgbClr val="B45309"/>
          </a:solidFill>
          <a:ln w="12700">
            <a:solidFill>
              <a:srgbClr val="B45309"/>
            </a:solidFill>
            <a:prstDash val="solid"/>
          </a:ln>
        </p:spPr>
        <p:txBody>
          <a:bodyPr/>
          <a:lstStyle/>
          <a:p>
            <a:endParaRPr lang="en-US"/>
          </a:p>
        </p:txBody>
      </p:sp>
      <p:sp>
        <p:nvSpPr>
          <p:cNvPr id="24" name="Text 22"/>
          <p:cNvSpPr/>
          <p:nvPr/>
        </p:nvSpPr>
        <p:spPr>
          <a:xfrm>
            <a:off x="3246120" y="2404872"/>
            <a:ext cx="10972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69% → 63%</a:t>
            </a:r>
            <a:endParaRPr lang="en-US" sz="1300" dirty="0"/>
          </a:p>
        </p:txBody>
      </p:sp>
      <p:sp>
        <p:nvSpPr>
          <p:cNvPr id="25" name="Text 23"/>
          <p:cNvSpPr/>
          <p:nvPr/>
        </p:nvSpPr>
        <p:spPr>
          <a:xfrm>
            <a:off x="1033272" y="2395728"/>
            <a:ext cx="2121408"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Gross Margin Decline</a:t>
            </a:r>
            <a:endParaRPr lang="en-US" sz="1300" dirty="0"/>
          </a:p>
        </p:txBody>
      </p:sp>
      <p:sp>
        <p:nvSpPr>
          <p:cNvPr id="26" name="Text 24"/>
          <p:cNvSpPr/>
          <p:nvPr/>
        </p:nvSpPr>
        <p:spPr>
          <a:xfrm>
            <a:off x="1033272" y="2715768"/>
            <a:ext cx="2121408" cy="219456"/>
          </a:xfrm>
          <a:prstGeom prst="rect">
            <a:avLst/>
          </a:prstGeom>
          <a:noFill/>
          <a:ln/>
        </p:spPr>
        <p:txBody>
          <a:bodyPr wrap="square" rtlCol="0" anchor="ctr"/>
          <a:lstStyle/>
          <a:p>
            <a:pPr marL="0" indent="0">
              <a:buNone/>
            </a:pPr>
            <a:r>
              <a:rPr lang="en-US" sz="1000" i="1" dirty="0">
                <a:solidFill>
                  <a:schemeClr val="tx2"/>
                </a:solidFill>
                <a:latin typeface="Calibri" pitchFamily="34" charset="0"/>
                <a:ea typeface="Calibri" pitchFamily="34" charset="-122"/>
                <a:cs typeface="Calibri" pitchFamily="34" charset="-120"/>
              </a:rPr>
              <a:t>6-Month Trend</a:t>
            </a:r>
            <a:endParaRPr lang="en-US" sz="1000" dirty="0">
              <a:solidFill>
                <a:schemeClr val="tx2"/>
              </a:solidFill>
            </a:endParaRPr>
          </a:p>
        </p:txBody>
      </p:sp>
      <p:sp>
        <p:nvSpPr>
          <p:cNvPr id="27" name="Text 25"/>
          <p:cNvSpPr/>
          <p:nvPr/>
        </p:nvSpPr>
        <p:spPr>
          <a:xfrm>
            <a:off x="411480" y="2990088"/>
            <a:ext cx="3931920" cy="502920"/>
          </a:xfrm>
          <a:prstGeom prst="rect">
            <a:avLst/>
          </a:prstGeom>
          <a:noFill/>
          <a:ln/>
        </p:spPr>
        <p:txBody>
          <a:bodyPr wrap="square" rtlCol="0" anchor="ctr"/>
          <a:lstStyle/>
          <a:p>
            <a:r>
              <a:rPr lang="en-US" sz="1000" dirty="0"/>
              <a:t>Gross margin declined from 69% to 63%, indicating cost growth outpaced revenue efficiency.</a:t>
            </a:r>
          </a:p>
        </p:txBody>
      </p:sp>
      <p:sp>
        <p:nvSpPr>
          <p:cNvPr id="28" name="Shape 26"/>
          <p:cNvSpPr/>
          <p:nvPr/>
        </p:nvSpPr>
        <p:spPr>
          <a:xfrm>
            <a:off x="4663440" y="2331720"/>
            <a:ext cx="4114800" cy="1234440"/>
          </a:xfrm>
          <a:prstGeom prst="rect">
            <a:avLst/>
          </a:prstGeom>
          <a:solidFill>
            <a:srgbClr val="F0F4F8"/>
          </a:solidFill>
          <a:ln w="1270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29" name="Shape 27"/>
          <p:cNvSpPr/>
          <p:nvPr/>
        </p:nvSpPr>
        <p:spPr>
          <a:xfrm>
            <a:off x="4754880" y="2423160"/>
            <a:ext cx="502920" cy="502920"/>
          </a:xfrm>
          <a:prstGeom prst="ellipse">
            <a:avLst/>
          </a:prstGeom>
          <a:solidFill>
            <a:srgbClr val="0891B2"/>
          </a:solidFill>
          <a:ln w="12700">
            <a:solidFill>
              <a:srgbClr val="0891B2"/>
            </a:solidFill>
            <a:prstDash val="solid"/>
          </a:ln>
        </p:spPr>
        <p:txBody>
          <a:bodyPr/>
          <a:lstStyle/>
          <a:p>
            <a:endParaRPr lang="en-US"/>
          </a:p>
        </p:txBody>
      </p:sp>
      <p:sp>
        <p:nvSpPr>
          <p:cNvPr id="30" name="Text 28"/>
          <p:cNvSpPr/>
          <p:nvPr/>
        </p:nvSpPr>
        <p:spPr>
          <a:xfrm>
            <a:off x="4754880" y="2423160"/>
            <a:ext cx="50292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31" name="Shape 29"/>
          <p:cNvSpPr/>
          <p:nvPr/>
        </p:nvSpPr>
        <p:spPr>
          <a:xfrm>
            <a:off x="7589520" y="2404872"/>
            <a:ext cx="1097280" cy="411480"/>
          </a:xfrm>
          <a:prstGeom prst="rect">
            <a:avLst/>
          </a:prstGeom>
          <a:solidFill>
            <a:srgbClr val="0891B2"/>
          </a:solidFill>
          <a:ln w="12700">
            <a:solidFill>
              <a:srgbClr val="0891B2"/>
            </a:solidFill>
            <a:prstDash val="solid"/>
          </a:ln>
        </p:spPr>
        <p:txBody>
          <a:bodyPr/>
          <a:lstStyle/>
          <a:p>
            <a:endParaRPr lang="en-US"/>
          </a:p>
        </p:txBody>
      </p:sp>
      <p:sp>
        <p:nvSpPr>
          <p:cNvPr id="32" name="Text 30"/>
          <p:cNvSpPr/>
          <p:nvPr/>
        </p:nvSpPr>
        <p:spPr>
          <a:xfrm>
            <a:off x="7589520" y="2404872"/>
            <a:ext cx="10972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31.8%</a:t>
            </a:r>
            <a:endParaRPr lang="en-US" sz="1300" dirty="0"/>
          </a:p>
        </p:txBody>
      </p:sp>
      <p:sp>
        <p:nvSpPr>
          <p:cNvPr id="33" name="Text 31"/>
          <p:cNvSpPr/>
          <p:nvPr/>
        </p:nvSpPr>
        <p:spPr>
          <a:xfrm>
            <a:off x="5376672" y="2395728"/>
            <a:ext cx="2121408"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Payroll Dominates</a:t>
            </a:r>
            <a:endParaRPr lang="en-US" sz="1300" dirty="0"/>
          </a:p>
        </p:txBody>
      </p:sp>
      <p:sp>
        <p:nvSpPr>
          <p:cNvPr id="34" name="Text 32"/>
          <p:cNvSpPr/>
          <p:nvPr/>
        </p:nvSpPr>
        <p:spPr>
          <a:xfrm>
            <a:off x="5376672" y="2715768"/>
            <a:ext cx="2121408" cy="219456"/>
          </a:xfrm>
          <a:prstGeom prst="rect">
            <a:avLst/>
          </a:prstGeom>
          <a:noFill/>
          <a:ln/>
        </p:spPr>
        <p:txBody>
          <a:bodyPr wrap="square" rtlCol="0" anchor="ctr"/>
          <a:lstStyle/>
          <a:p>
            <a:pPr marL="0" indent="0">
              <a:buNone/>
            </a:pPr>
            <a:r>
              <a:rPr lang="en-US" sz="1000" i="1" dirty="0">
                <a:solidFill>
                  <a:schemeClr val="tx2"/>
                </a:solidFill>
                <a:latin typeface="Calibri" pitchFamily="34" charset="0"/>
                <a:ea typeface="Calibri" pitchFamily="34" charset="-122"/>
                <a:cs typeface="Calibri" pitchFamily="34" charset="-120"/>
              </a:rPr>
              <a:t>Share of Expenses</a:t>
            </a:r>
            <a:endParaRPr lang="en-US" sz="1000" dirty="0">
              <a:solidFill>
                <a:schemeClr val="tx2"/>
              </a:solidFill>
            </a:endParaRPr>
          </a:p>
        </p:txBody>
      </p:sp>
      <p:sp>
        <p:nvSpPr>
          <p:cNvPr id="35" name="Text 33"/>
          <p:cNvSpPr/>
          <p:nvPr/>
        </p:nvSpPr>
        <p:spPr>
          <a:xfrm>
            <a:off x="4754880" y="2990088"/>
            <a:ext cx="3931920" cy="502920"/>
          </a:xfrm>
          <a:prstGeom prst="rect">
            <a:avLst/>
          </a:prstGeom>
          <a:noFill/>
          <a:ln/>
        </p:spPr>
        <p:txBody>
          <a:bodyPr wrap="square" rtlCol="0" anchor="ctr"/>
          <a:lstStyle/>
          <a:p>
            <a:r>
              <a:rPr lang="en-US" sz="1000" dirty="0">
                <a:solidFill>
                  <a:schemeClr val="tx2"/>
                </a:solidFill>
              </a:rPr>
              <a:t>Payroll was the largest expense category at 31.82%, followed by marketing spend at 24.65% and cloud hosting at 14.61%.</a:t>
            </a:r>
          </a:p>
        </p:txBody>
      </p:sp>
      <p:sp>
        <p:nvSpPr>
          <p:cNvPr id="36" name="Shape 34"/>
          <p:cNvSpPr/>
          <p:nvPr/>
        </p:nvSpPr>
        <p:spPr>
          <a:xfrm>
            <a:off x="320040" y="3703320"/>
            <a:ext cx="4114800" cy="1234440"/>
          </a:xfrm>
          <a:prstGeom prst="rect">
            <a:avLst/>
          </a:prstGeom>
          <a:solidFill>
            <a:srgbClr val="F0F4F8"/>
          </a:solidFill>
          <a:ln w="1270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37" name="Shape 35"/>
          <p:cNvSpPr/>
          <p:nvPr/>
        </p:nvSpPr>
        <p:spPr>
          <a:xfrm>
            <a:off x="411480" y="3794760"/>
            <a:ext cx="502920" cy="502920"/>
          </a:xfrm>
          <a:prstGeom prst="ellipse">
            <a:avLst/>
          </a:prstGeom>
          <a:solidFill>
            <a:srgbClr val="7C3AED"/>
          </a:solidFill>
          <a:ln w="12700">
            <a:solidFill>
              <a:srgbClr val="7C3AED"/>
            </a:solidFill>
            <a:prstDash val="solid"/>
          </a:ln>
        </p:spPr>
        <p:txBody>
          <a:bodyPr/>
          <a:lstStyle/>
          <a:p>
            <a:endParaRPr lang="en-US"/>
          </a:p>
        </p:txBody>
      </p:sp>
      <p:sp>
        <p:nvSpPr>
          <p:cNvPr id="38" name="Text 36"/>
          <p:cNvSpPr/>
          <p:nvPr/>
        </p:nvSpPr>
        <p:spPr>
          <a:xfrm>
            <a:off x="411480" y="3794760"/>
            <a:ext cx="50292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39" name="Shape 37"/>
          <p:cNvSpPr/>
          <p:nvPr/>
        </p:nvSpPr>
        <p:spPr>
          <a:xfrm>
            <a:off x="3246120" y="3776472"/>
            <a:ext cx="1097280" cy="411480"/>
          </a:xfrm>
          <a:prstGeom prst="rect">
            <a:avLst/>
          </a:prstGeom>
          <a:solidFill>
            <a:srgbClr val="7C3AED"/>
          </a:solidFill>
          <a:ln w="12700">
            <a:solidFill>
              <a:srgbClr val="7C3AED"/>
            </a:solidFill>
            <a:prstDash val="solid"/>
          </a:ln>
        </p:spPr>
        <p:txBody>
          <a:bodyPr/>
          <a:lstStyle/>
          <a:p>
            <a:endParaRPr lang="en-US"/>
          </a:p>
        </p:txBody>
      </p:sp>
      <p:sp>
        <p:nvSpPr>
          <p:cNvPr id="40" name="Text 38"/>
          <p:cNvSpPr/>
          <p:nvPr/>
        </p:nvSpPr>
        <p:spPr>
          <a:xfrm>
            <a:off x="3246120" y="3776472"/>
            <a:ext cx="10972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Top 2</a:t>
            </a:r>
            <a:endParaRPr lang="en-US" sz="1300" dirty="0"/>
          </a:p>
        </p:txBody>
      </p:sp>
      <p:sp>
        <p:nvSpPr>
          <p:cNvPr id="41" name="Text 39"/>
          <p:cNvSpPr/>
          <p:nvPr/>
        </p:nvSpPr>
        <p:spPr>
          <a:xfrm>
            <a:off x="1033272" y="3767328"/>
            <a:ext cx="2121408"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Customer Concentration</a:t>
            </a:r>
            <a:endParaRPr lang="en-US" sz="1300" dirty="0"/>
          </a:p>
        </p:txBody>
      </p:sp>
      <p:sp>
        <p:nvSpPr>
          <p:cNvPr id="42" name="Text 40"/>
          <p:cNvSpPr/>
          <p:nvPr/>
        </p:nvSpPr>
        <p:spPr>
          <a:xfrm>
            <a:off x="1033272" y="4087368"/>
            <a:ext cx="2121408" cy="219456"/>
          </a:xfrm>
          <a:prstGeom prst="rect">
            <a:avLst/>
          </a:prstGeom>
          <a:noFill/>
          <a:ln/>
        </p:spPr>
        <p:txBody>
          <a:bodyPr wrap="square" rtlCol="0" anchor="ctr"/>
          <a:lstStyle/>
          <a:p>
            <a:pPr marL="0" indent="0">
              <a:buNone/>
            </a:pPr>
            <a:r>
              <a:rPr lang="en-US" sz="1000" i="1" dirty="0">
                <a:solidFill>
                  <a:schemeClr val="tx2"/>
                </a:solidFill>
                <a:latin typeface="Calibri" pitchFamily="34" charset="0"/>
                <a:ea typeface="Calibri" pitchFamily="34" charset="-122"/>
                <a:cs typeface="Calibri" pitchFamily="34" charset="-120"/>
              </a:rPr>
              <a:t>Customers</a:t>
            </a:r>
            <a:endParaRPr lang="en-US" sz="1000" dirty="0">
              <a:solidFill>
                <a:schemeClr val="tx2"/>
              </a:solidFill>
            </a:endParaRPr>
          </a:p>
        </p:txBody>
      </p:sp>
      <p:sp>
        <p:nvSpPr>
          <p:cNvPr id="43" name="Text 41"/>
          <p:cNvSpPr/>
          <p:nvPr/>
        </p:nvSpPr>
        <p:spPr>
          <a:xfrm>
            <a:off x="411480" y="4361688"/>
            <a:ext cx="3931920" cy="502920"/>
          </a:xfrm>
          <a:prstGeom prst="rect">
            <a:avLst/>
          </a:prstGeom>
          <a:noFill/>
          <a:ln/>
        </p:spPr>
        <p:txBody>
          <a:bodyPr wrap="square" rtlCol="0" anchor="ctr"/>
          <a:lstStyle/>
          <a:p>
            <a:pPr marL="0" indent="0">
              <a:buNone/>
            </a:pPr>
            <a:r>
              <a:rPr lang="en-US" sz="1000" dirty="0">
                <a:solidFill>
                  <a:srgbClr val="334155"/>
                </a:solidFill>
                <a:latin typeface="Calibri" pitchFamily="34" charset="0"/>
                <a:ea typeface="Calibri" pitchFamily="34" charset="-122"/>
                <a:cs typeface="Calibri" pitchFamily="34" charset="-120"/>
              </a:rPr>
              <a:t>TechStart Ltd and Nova Retail Group account for the majority of total revenue — concentration risk is material.</a:t>
            </a:r>
            <a:endParaRPr lang="en-US" sz="1000" dirty="0"/>
          </a:p>
        </p:txBody>
      </p:sp>
      <p:sp>
        <p:nvSpPr>
          <p:cNvPr id="44" name="Shape 42"/>
          <p:cNvSpPr/>
          <p:nvPr/>
        </p:nvSpPr>
        <p:spPr>
          <a:xfrm>
            <a:off x="4663440" y="3703320"/>
            <a:ext cx="4114800" cy="1234440"/>
          </a:xfrm>
          <a:prstGeom prst="rect">
            <a:avLst/>
          </a:prstGeom>
          <a:solidFill>
            <a:srgbClr val="F0F4F8"/>
          </a:solidFill>
          <a:ln w="12700">
            <a:solidFill>
              <a:srgbClr val="E2E8F0"/>
            </a:solidFill>
            <a:prstDash val="solid"/>
          </a:ln>
          <a:effectLst>
            <a:outerShdw blurRad="50800" dist="12700" dir="8100000" algn="bl" rotWithShape="0">
              <a:srgbClr val="000000">
                <a:alpha val="6000"/>
              </a:srgbClr>
            </a:outerShdw>
          </a:effectLst>
        </p:spPr>
        <p:txBody>
          <a:bodyPr/>
          <a:lstStyle/>
          <a:p>
            <a:endParaRPr lang="en-US"/>
          </a:p>
        </p:txBody>
      </p:sp>
      <p:sp>
        <p:nvSpPr>
          <p:cNvPr id="45" name="Shape 43"/>
          <p:cNvSpPr/>
          <p:nvPr/>
        </p:nvSpPr>
        <p:spPr>
          <a:xfrm>
            <a:off x="4754880" y="3794760"/>
            <a:ext cx="502920" cy="502920"/>
          </a:xfrm>
          <a:prstGeom prst="ellipse">
            <a:avLst/>
          </a:prstGeom>
          <a:solidFill>
            <a:srgbClr val="DC2626"/>
          </a:solidFill>
          <a:ln w="12700">
            <a:solidFill>
              <a:srgbClr val="DC2626"/>
            </a:solidFill>
            <a:prstDash val="solid"/>
          </a:ln>
        </p:spPr>
        <p:txBody>
          <a:bodyPr/>
          <a:lstStyle/>
          <a:p>
            <a:endParaRPr lang="en-US"/>
          </a:p>
        </p:txBody>
      </p:sp>
      <p:sp>
        <p:nvSpPr>
          <p:cNvPr id="46" name="Text 44"/>
          <p:cNvSpPr/>
          <p:nvPr/>
        </p:nvSpPr>
        <p:spPr>
          <a:xfrm>
            <a:off x="4754880" y="3794760"/>
            <a:ext cx="502920" cy="5029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47" name="Shape 45"/>
          <p:cNvSpPr/>
          <p:nvPr/>
        </p:nvSpPr>
        <p:spPr>
          <a:xfrm>
            <a:off x="7589520" y="3776472"/>
            <a:ext cx="1097280" cy="411480"/>
          </a:xfrm>
          <a:prstGeom prst="rect">
            <a:avLst/>
          </a:prstGeom>
          <a:solidFill>
            <a:srgbClr val="DC2626"/>
          </a:solidFill>
          <a:ln w="12700">
            <a:solidFill>
              <a:srgbClr val="DC2626"/>
            </a:solidFill>
            <a:prstDash val="solid"/>
          </a:ln>
        </p:spPr>
        <p:txBody>
          <a:bodyPr/>
          <a:lstStyle/>
          <a:p>
            <a:endParaRPr lang="en-US"/>
          </a:p>
        </p:txBody>
      </p:sp>
      <p:sp>
        <p:nvSpPr>
          <p:cNvPr id="48" name="Text 46"/>
          <p:cNvSpPr/>
          <p:nvPr/>
        </p:nvSpPr>
        <p:spPr>
          <a:xfrm>
            <a:off x="7589520" y="3776472"/>
            <a:ext cx="1097280" cy="41148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&gt;$10K</a:t>
            </a:r>
            <a:endParaRPr lang="en-US" sz="1300" dirty="0"/>
          </a:p>
        </p:txBody>
      </p:sp>
      <p:sp>
        <p:nvSpPr>
          <p:cNvPr id="49" name="Text 47"/>
          <p:cNvSpPr/>
          <p:nvPr/>
        </p:nvSpPr>
        <p:spPr>
          <a:xfrm>
            <a:off x="5376672" y="3767328"/>
            <a:ext cx="2121408"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CAC Rising</a:t>
            </a:r>
            <a:endParaRPr lang="en-US" sz="1300" dirty="0"/>
          </a:p>
        </p:txBody>
      </p:sp>
      <p:sp>
        <p:nvSpPr>
          <p:cNvPr id="50" name="Text 48"/>
          <p:cNvSpPr/>
          <p:nvPr/>
        </p:nvSpPr>
        <p:spPr>
          <a:xfrm>
            <a:off x="5376672" y="4087368"/>
            <a:ext cx="2121408" cy="219456"/>
          </a:xfrm>
          <a:prstGeom prst="rect">
            <a:avLst/>
          </a:prstGeom>
          <a:noFill/>
          <a:ln/>
        </p:spPr>
        <p:txBody>
          <a:bodyPr wrap="square" rtlCol="0" anchor="ctr"/>
          <a:lstStyle/>
          <a:p>
            <a:r>
              <a:rPr lang="en-US" sz="1000" i="1" dirty="0">
                <a:solidFill>
                  <a:schemeClr val="tx2"/>
                </a:solidFill>
              </a:rPr>
              <a:t>Growth Months</a:t>
            </a:r>
          </a:p>
        </p:txBody>
      </p:sp>
      <p:sp>
        <p:nvSpPr>
          <p:cNvPr id="51" name="Text 49"/>
          <p:cNvSpPr/>
          <p:nvPr/>
        </p:nvSpPr>
        <p:spPr>
          <a:xfrm>
            <a:off x="4754880" y="4361688"/>
            <a:ext cx="3931920" cy="502920"/>
          </a:xfrm>
          <a:prstGeom prst="rect">
            <a:avLst/>
          </a:prstGeom>
          <a:noFill/>
          <a:ln/>
        </p:spPr>
        <p:txBody>
          <a:bodyPr wrap="square" rtlCol="0" anchor="ctr"/>
          <a:lstStyle/>
          <a:p>
            <a:r>
              <a:rPr lang="en-US" sz="1000" dirty="0">
                <a:solidFill>
                  <a:schemeClr val="tx2"/>
                </a:solidFill>
              </a:rPr>
              <a:t>CAC crossed $10K during multiple growth months, so acquisition efficiency should be monitored against LTV.</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Business Recommendations</a:t>
            </a:r>
            <a:endParaRPr lang="en-US" sz="2400" dirty="0"/>
          </a:p>
        </p:txBody>
      </p:sp>
      <p:sp>
        <p:nvSpPr>
          <p:cNvPr id="4" name="Shape 2"/>
          <p:cNvSpPr/>
          <p:nvPr/>
        </p:nvSpPr>
        <p:spPr>
          <a:xfrm>
            <a:off x="320040" y="960120"/>
            <a:ext cx="8503920" cy="749808"/>
          </a:xfrm>
          <a:prstGeom prst="rect">
            <a:avLst/>
          </a:prstGeom>
          <a:solidFill>
            <a:srgbClr val="F0F4F8"/>
          </a:solidFill>
          <a:ln w="12700">
            <a:solidFill>
              <a:srgbClr val="E2E8F0"/>
            </a:solidFill>
            <a:prstDash val="solid"/>
          </a:ln>
        </p:spPr>
        <p:txBody>
          <a:bodyPr/>
          <a:lstStyle/>
          <a:p>
            <a:endParaRPr lang="en-US"/>
          </a:p>
        </p:txBody>
      </p:sp>
      <p:sp>
        <p:nvSpPr>
          <p:cNvPr id="5" name="Shape 3"/>
          <p:cNvSpPr/>
          <p:nvPr/>
        </p:nvSpPr>
        <p:spPr>
          <a:xfrm>
            <a:off x="320040" y="960120"/>
            <a:ext cx="54864" cy="749808"/>
          </a:xfrm>
          <a:prstGeom prst="rect">
            <a:avLst/>
          </a:prstGeom>
          <a:solidFill>
            <a:srgbClr val="0D9488"/>
          </a:solidFill>
          <a:ln w="12700">
            <a:solidFill>
              <a:srgbClr val="0D9488"/>
            </a:solidFill>
            <a:prstDash val="solid"/>
          </a:ln>
        </p:spPr>
        <p:txBody>
          <a:bodyPr/>
          <a:lstStyle/>
          <a:p>
            <a:endParaRPr lang="en-US"/>
          </a:p>
        </p:txBody>
      </p:sp>
      <p:sp>
        <p:nvSpPr>
          <p:cNvPr id="6" name="Shape 4"/>
          <p:cNvSpPr/>
          <p:nvPr/>
        </p:nvSpPr>
        <p:spPr>
          <a:xfrm>
            <a:off x="457200" y="1088136"/>
            <a:ext cx="475488" cy="475488"/>
          </a:xfrm>
          <a:prstGeom prst="ellipse">
            <a:avLst/>
          </a:prstGeom>
          <a:solidFill>
            <a:srgbClr val="0D9488"/>
          </a:solidFill>
          <a:ln w="12700">
            <a:solidFill>
              <a:srgbClr val="0D9488"/>
            </a:solidFill>
            <a:prstDash val="solid"/>
          </a:ln>
        </p:spPr>
        <p:txBody>
          <a:bodyPr/>
          <a:lstStyle/>
          <a:p>
            <a:endParaRPr lang="en-US"/>
          </a:p>
        </p:txBody>
      </p:sp>
      <p:sp>
        <p:nvSpPr>
          <p:cNvPr id="7" name="Text 5"/>
          <p:cNvSpPr/>
          <p:nvPr/>
        </p:nvSpPr>
        <p:spPr>
          <a:xfrm>
            <a:off x="457200" y="1088136"/>
            <a:ext cx="475488"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97280" y="1014984"/>
            <a:ext cx="292608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Control Operating Costs</a:t>
            </a:r>
            <a:endParaRPr lang="en-US" sz="1300" dirty="0"/>
          </a:p>
        </p:txBody>
      </p:sp>
      <p:sp>
        <p:nvSpPr>
          <p:cNvPr id="9" name="Text 7"/>
          <p:cNvSpPr/>
          <p:nvPr/>
        </p:nvSpPr>
        <p:spPr>
          <a:xfrm>
            <a:off x="1097280" y="1335024"/>
            <a:ext cx="7589520" cy="32004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Establish monthly spend reviews for marketing and cloud hosting. Flag any line exceeding 10% of budget for CFO approval. Target 15% reduction in variable costs within two quarters.</a:t>
            </a:r>
            <a:endParaRPr lang="en-US" sz="1050" dirty="0"/>
          </a:p>
        </p:txBody>
      </p:sp>
      <p:sp>
        <p:nvSpPr>
          <p:cNvPr id="10" name="Shape 8"/>
          <p:cNvSpPr/>
          <p:nvPr/>
        </p:nvSpPr>
        <p:spPr>
          <a:xfrm>
            <a:off x="320040" y="1792224"/>
            <a:ext cx="8503920" cy="749808"/>
          </a:xfrm>
          <a:prstGeom prst="rect">
            <a:avLst/>
          </a:prstGeom>
          <a:solidFill>
            <a:srgbClr val="F0F4F8"/>
          </a:solidFill>
          <a:ln w="12700">
            <a:solidFill>
              <a:srgbClr val="E2E8F0"/>
            </a:solidFill>
            <a:prstDash val="solid"/>
          </a:ln>
        </p:spPr>
        <p:txBody>
          <a:bodyPr/>
          <a:lstStyle/>
          <a:p>
            <a:endParaRPr lang="en-US"/>
          </a:p>
        </p:txBody>
      </p:sp>
      <p:sp>
        <p:nvSpPr>
          <p:cNvPr id="11" name="Shape 9"/>
          <p:cNvSpPr/>
          <p:nvPr/>
        </p:nvSpPr>
        <p:spPr>
          <a:xfrm>
            <a:off x="320040" y="1792224"/>
            <a:ext cx="54864" cy="749808"/>
          </a:xfrm>
          <a:prstGeom prst="rect">
            <a:avLst/>
          </a:prstGeom>
          <a:solidFill>
            <a:srgbClr val="0891B2"/>
          </a:solidFill>
          <a:ln w="12700">
            <a:solidFill>
              <a:srgbClr val="0891B2"/>
            </a:solidFill>
            <a:prstDash val="solid"/>
          </a:ln>
        </p:spPr>
        <p:txBody>
          <a:bodyPr/>
          <a:lstStyle/>
          <a:p>
            <a:endParaRPr lang="en-US"/>
          </a:p>
        </p:txBody>
      </p:sp>
      <p:sp>
        <p:nvSpPr>
          <p:cNvPr id="12" name="Shape 10"/>
          <p:cNvSpPr/>
          <p:nvPr/>
        </p:nvSpPr>
        <p:spPr>
          <a:xfrm>
            <a:off x="457200" y="1920240"/>
            <a:ext cx="475488" cy="475488"/>
          </a:xfrm>
          <a:prstGeom prst="ellipse">
            <a:avLst/>
          </a:prstGeom>
          <a:solidFill>
            <a:srgbClr val="0891B2"/>
          </a:solidFill>
          <a:ln w="12700">
            <a:solidFill>
              <a:srgbClr val="0891B2"/>
            </a:solidFill>
            <a:prstDash val="solid"/>
          </a:ln>
        </p:spPr>
        <p:txBody>
          <a:bodyPr/>
          <a:lstStyle/>
          <a:p>
            <a:endParaRPr lang="en-US"/>
          </a:p>
        </p:txBody>
      </p:sp>
      <p:sp>
        <p:nvSpPr>
          <p:cNvPr id="13" name="Text 11"/>
          <p:cNvSpPr/>
          <p:nvPr/>
        </p:nvSpPr>
        <p:spPr>
          <a:xfrm>
            <a:off x="457200" y="1920240"/>
            <a:ext cx="475488"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1097280" y="1847088"/>
            <a:ext cx="292608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Expand EBITDA Margins</a:t>
            </a:r>
            <a:endParaRPr lang="en-US" sz="1300" dirty="0"/>
          </a:p>
        </p:txBody>
      </p:sp>
      <p:sp>
        <p:nvSpPr>
          <p:cNvPr id="15" name="Text 13"/>
          <p:cNvSpPr/>
          <p:nvPr/>
        </p:nvSpPr>
        <p:spPr>
          <a:xfrm>
            <a:off x="1097280" y="2167128"/>
            <a:ext cx="7589520" cy="32004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Push Basic-plan customers toward Premium tiers to improve revenue quality. Premium plan upgrades can improve recurring revenue with limited incremental cost.</a:t>
            </a:r>
            <a:endParaRPr lang="en-US" sz="1050" dirty="0"/>
          </a:p>
        </p:txBody>
      </p:sp>
      <p:sp>
        <p:nvSpPr>
          <p:cNvPr id="16" name="Shape 14"/>
          <p:cNvSpPr/>
          <p:nvPr/>
        </p:nvSpPr>
        <p:spPr>
          <a:xfrm>
            <a:off x="320040" y="2624328"/>
            <a:ext cx="8503920" cy="749808"/>
          </a:xfrm>
          <a:prstGeom prst="rect">
            <a:avLst/>
          </a:prstGeom>
          <a:solidFill>
            <a:srgbClr val="F0F4F8"/>
          </a:solidFill>
          <a:ln w="12700">
            <a:solidFill>
              <a:srgbClr val="E2E8F0"/>
            </a:solidFill>
            <a:prstDash val="solid"/>
          </a:ln>
        </p:spPr>
        <p:txBody>
          <a:bodyPr/>
          <a:lstStyle/>
          <a:p>
            <a:endParaRPr lang="en-US"/>
          </a:p>
        </p:txBody>
      </p:sp>
      <p:sp>
        <p:nvSpPr>
          <p:cNvPr id="17" name="Shape 15"/>
          <p:cNvSpPr/>
          <p:nvPr/>
        </p:nvSpPr>
        <p:spPr>
          <a:xfrm>
            <a:off x="320040" y="2624328"/>
            <a:ext cx="54864" cy="749808"/>
          </a:xfrm>
          <a:prstGeom prst="rect">
            <a:avLst/>
          </a:prstGeom>
          <a:solidFill>
            <a:srgbClr val="7C3AED"/>
          </a:solidFill>
          <a:ln w="12700">
            <a:solidFill>
              <a:srgbClr val="7C3AED"/>
            </a:solidFill>
            <a:prstDash val="solid"/>
          </a:ln>
        </p:spPr>
        <p:txBody>
          <a:bodyPr/>
          <a:lstStyle/>
          <a:p>
            <a:endParaRPr lang="en-US"/>
          </a:p>
        </p:txBody>
      </p:sp>
      <p:sp>
        <p:nvSpPr>
          <p:cNvPr id="18" name="Shape 16"/>
          <p:cNvSpPr/>
          <p:nvPr/>
        </p:nvSpPr>
        <p:spPr>
          <a:xfrm>
            <a:off x="457200" y="2752344"/>
            <a:ext cx="475488" cy="475488"/>
          </a:xfrm>
          <a:prstGeom prst="ellipse">
            <a:avLst/>
          </a:prstGeom>
          <a:solidFill>
            <a:srgbClr val="7C3AED"/>
          </a:solidFill>
          <a:ln w="12700">
            <a:solidFill>
              <a:srgbClr val="7C3AED"/>
            </a:solidFill>
            <a:prstDash val="solid"/>
          </a:ln>
        </p:spPr>
        <p:txBody>
          <a:bodyPr/>
          <a:lstStyle/>
          <a:p>
            <a:endParaRPr lang="en-US"/>
          </a:p>
        </p:txBody>
      </p:sp>
      <p:sp>
        <p:nvSpPr>
          <p:cNvPr id="19" name="Text 17"/>
          <p:cNvSpPr/>
          <p:nvPr/>
        </p:nvSpPr>
        <p:spPr>
          <a:xfrm>
            <a:off x="457200" y="2752344"/>
            <a:ext cx="475488"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1097280" y="2679192"/>
            <a:ext cx="292608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Track CAC vs. LTV</a:t>
            </a:r>
            <a:endParaRPr lang="en-US" sz="1300" dirty="0"/>
          </a:p>
        </p:txBody>
      </p:sp>
      <p:sp>
        <p:nvSpPr>
          <p:cNvPr id="21" name="Text 19"/>
          <p:cNvSpPr/>
          <p:nvPr/>
        </p:nvSpPr>
        <p:spPr>
          <a:xfrm>
            <a:off x="1097280" y="2999232"/>
            <a:ext cx="7589520" cy="32004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Implement a monthly CAC-to-LTV dashboard. High-risk months (CAC &gt; $10K) should trigger a marketing mix review. Target a minimum 3:1 LTV:CAC ratio.</a:t>
            </a:r>
            <a:endParaRPr lang="en-US" sz="1050" dirty="0"/>
          </a:p>
        </p:txBody>
      </p:sp>
      <p:sp>
        <p:nvSpPr>
          <p:cNvPr id="22" name="Shape 20"/>
          <p:cNvSpPr/>
          <p:nvPr/>
        </p:nvSpPr>
        <p:spPr>
          <a:xfrm>
            <a:off x="320040" y="3456432"/>
            <a:ext cx="8503920" cy="749808"/>
          </a:xfrm>
          <a:prstGeom prst="rect">
            <a:avLst/>
          </a:prstGeom>
          <a:solidFill>
            <a:srgbClr val="F0F4F8"/>
          </a:solidFill>
          <a:ln w="12700">
            <a:solidFill>
              <a:srgbClr val="E2E8F0"/>
            </a:solidFill>
            <a:prstDash val="solid"/>
          </a:ln>
        </p:spPr>
        <p:txBody>
          <a:bodyPr/>
          <a:lstStyle/>
          <a:p>
            <a:endParaRPr lang="en-US"/>
          </a:p>
        </p:txBody>
      </p:sp>
      <p:sp>
        <p:nvSpPr>
          <p:cNvPr id="23" name="Shape 21"/>
          <p:cNvSpPr/>
          <p:nvPr/>
        </p:nvSpPr>
        <p:spPr>
          <a:xfrm>
            <a:off x="320040" y="3456432"/>
            <a:ext cx="54864" cy="749808"/>
          </a:xfrm>
          <a:prstGeom prst="rect">
            <a:avLst/>
          </a:prstGeom>
          <a:solidFill>
            <a:srgbClr val="BE185D"/>
          </a:solidFill>
          <a:ln w="12700">
            <a:solidFill>
              <a:srgbClr val="BE185D"/>
            </a:solidFill>
            <a:prstDash val="solid"/>
          </a:ln>
        </p:spPr>
        <p:txBody>
          <a:bodyPr/>
          <a:lstStyle/>
          <a:p>
            <a:endParaRPr lang="en-US"/>
          </a:p>
        </p:txBody>
      </p:sp>
      <p:sp>
        <p:nvSpPr>
          <p:cNvPr id="24" name="Shape 22"/>
          <p:cNvSpPr/>
          <p:nvPr/>
        </p:nvSpPr>
        <p:spPr>
          <a:xfrm>
            <a:off x="457200" y="3584448"/>
            <a:ext cx="475488" cy="475488"/>
          </a:xfrm>
          <a:prstGeom prst="ellipse">
            <a:avLst/>
          </a:prstGeom>
          <a:solidFill>
            <a:srgbClr val="BE185D"/>
          </a:solidFill>
          <a:ln w="12700">
            <a:solidFill>
              <a:srgbClr val="BE185D"/>
            </a:solidFill>
            <a:prstDash val="solid"/>
          </a:ln>
        </p:spPr>
        <p:txBody>
          <a:bodyPr/>
          <a:lstStyle/>
          <a:p>
            <a:endParaRPr lang="en-US"/>
          </a:p>
        </p:txBody>
      </p:sp>
      <p:sp>
        <p:nvSpPr>
          <p:cNvPr id="25" name="Text 23"/>
          <p:cNvSpPr/>
          <p:nvPr/>
        </p:nvSpPr>
        <p:spPr>
          <a:xfrm>
            <a:off x="457200" y="3584448"/>
            <a:ext cx="475488"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1097280" y="3511296"/>
            <a:ext cx="292608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Reduce Customer Concentration</a:t>
            </a:r>
            <a:endParaRPr lang="en-US" sz="1300" dirty="0"/>
          </a:p>
        </p:txBody>
      </p:sp>
      <p:sp>
        <p:nvSpPr>
          <p:cNvPr id="27" name="Text 25"/>
          <p:cNvSpPr/>
          <p:nvPr/>
        </p:nvSpPr>
        <p:spPr>
          <a:xfrm>
            <a:off x="1097280" y="3831336"/>
            <a:ext cx="7589520" cy="32004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Diversify the customer base to reduce single-customer revenue dependency. A pipeline of 3–5 new SMB clients per quarter would meaningfully reduce concentration risk.</a:t>
            </a:r>
            <a:endParaRPr lang="en-US" sz="1050" dirty="0"/>
          </a:p>
        </p:txBody>
      </p:sp>
      <p:sp>
        <p:nvSpPr>
          <p:cNvPr id="28" name="Shape 26"/>
          <p:cNvSpPr/>
          <p:nvPr/>
        </p:nvSpPr>
        <p:spPr>
          <a:xfrm>
            <a:off x="320040" y="4288536"/>
            <a:ext cx="8503920" cy="749808"/>
          </a:xfrm>
          <a:prstGeom prst="rect">
            <a:avLst/>
          </a:prstGeom>
          <a:solidFill>
            <a:srgbClr val="F0F4F8"/>
          </a:solidFill>
          <a:ln w="12700">
            <a:solidFill>
              <a:srgbClr val="E2E8F0"/>
            </a:solidFill>
            <a:prstDash val="solid"/>
          </a:ln>
        </p:spPr>
        <p:txBody>
          <a:bodyPr/>
          <a:lstStyle/>
          <a:p>
            <a:endParaRPr lang="en-US"/>
          </a:p>
        </p:txBody>
      </p:sp>
      <p:sp>
        <p:nvSpPr>
          <p:cNvPr id="29" name="Shape 27"/>
          <p:cNvSpPr/>
          <p:nvPr/>
        </p:nvSpPr>
        <p:spPr>
          <a:xfrm>
            <a:off x="320040" y="4288536"/>
            <a:ext cx="54864" cy="749808"/>
          </a:xfrm>
          <a:prstGeom prst="rect">
            <a:avLst/>
          </a:prstGeom>
          <a:solidFill>
            <a:srgbClr val="B45309"/>
          </a:solidFill>
          <a:ln w="12700">
            <a:solidFill>
              <a:srgbClr val="B45309"/>
            </a:solidFill>
            <a:prstDash val="solid"/>
          </a:ln>
        </p:spPr>
        <p:txBody>
          <a:bodyPr/>
          <a:lstStyle/>
          <a:p>
            <a:endParaRPr lang="en-US"/>
          </a:p>
        </p:txBody>
      </p:sp>
      <p:sp>
        <p:nvSpPr>
          <p:cNvPr id="30" name="Shape 28"/>
          <p:cNvSpPr/>
          <p:nvPr/>
        </p:nvSpPr>
        <p:spPr>
          <a:xfrm>
            <a:off x="457200" y="4416552"/>
            <a:ext cx="475488" cy="475488"/>
          </a:xfrm>
          <a:prstGeom prst="ellipse">
            <a:avLst/>
          </a:prstGeom>
          <a:solidFill>
            <a:srgbClr val="B45309"/>
          </a:solidFill>
          <a:ln w="12700">
            <a:solidFill>
              <a:srgbClr val="B45309"/>
            </a:solidFill>
            <a:prstDash val="solid"/>
          </a:ln>
        </p:spPr>
        <p:txBody>
          <a:bodyPr/>
          <a:lstStyle/>
          <a:p>
            <a:endParaRPr lang="en-US"/>
          </a:p>
        </p:txBody>
      </p:sp>
      <p:sp>
        <p:nvSpPr>
          <p:cNvPr id="31" name="Text 29"/>
          <p:cNvSpPr/>
          <p:nvPr/>
        </p:nvSpPr>
        <p:spPr>
          <a:xfrm>
            <a:off x="457200" y="4416552"/>
            <a:ext cx="475488" cy="47548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p:nvPr/>
        </p:nvSpPr>
        <p:spPr>
          <a:xfrm>
            <a:off x="1097280" y="4343400"/>
            <a:ext cx="2926080" cy="32004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Monthly Management Reporting</a:t>
            </a:r>
            <a:endParaRPr lang="en-US" sz="1300" dirty="0"/>
          </a:p>
        </p:txBody>
      </p:sp>
      <p:sp>
        <p:nvSpPr>
          <p:cNvPr id="33" name="Text 31"/>
          <p:cNvSpPr/>
          <p:nvPr/>
        </p:nvSpPr>
        <p:spPr>
          <a:xfrm>
            <a:off x="1097280" y="4663440"/>
            <a:ext cx="7589520" cy="320040"/>
          </a:xfrm>
          <a:prstGeom prst="rect">
            <a:avLst/>
          </a:prstGeom>
          <a:noFill/>
          <a:ln/>
        </p:spPr>
        <p:txBody>
          <a:bodyPr wrap="square" rtlCol="0" anchor="ctr"/>
          <a:lstStyle/>
          <a:p>
            <a:pPr marL="0" indent="0">
              <a:buNone/>
            </a:pPr>
            <a:r>
              <a:rPr lang="en-US" sz="1050" dirty="0">
                <a:solidFill>
                  <a:srgbClr val="475569"/>
                </a:solidFill>
                <a:latin typeface="Calibri" pitchFamily="34" charset="0"/>
                <a:ea typeface="Calibri" pitchFamily="34" charset="-122"/>
                <a:cs typeface="Calibri" pitchFamily="34" charset="-120"/>
              </a:rPr>
              <a:t>Adopt the NovaPay dashboard as the standard executive reporting tool. Monthly business review cadence anchored to KPI cards, revenue trend, and EBITDA performance.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B2A4A"/>
          </a:solidFill>
          <a:ln w="12700">
            <a:solidFill>
              <a:srgbClr val="1B2A4A"/>
            </a:solidFill>
            <a:prstDash val="solid"/>
          </a:ln>
        </p:spPr>
        <p:txBody>
          <a:bodyPr/>
          <a:lstStyle/>
          <a:p>
            <a:endParaRPr lang="en-US"/>
          </a:p>
        </p:txBody>
      </p:sp>
      <p:sp>
        <p:nvSpPr>
          <p:cNvPr id="3" name="Text 1"/>
          <p:cNvSpPr/>
          <p:nvPr/>
        </p:nvSpPr>
        <p:spPr>
          <a:xfrm>
            <a:off x="457200" y="91440"/>
            <a:ext cx="8229600" cy="594360"/>
          </a:xfrm>
          <a:prstGeom prst="rect">
            <a:avLst/>
          </a:prstGeom>
          <a:noFill/>
          <a:ln/>
        </p:spPr>
        <p:txBody>
          <a:bodyPr wrap="square" lIns="0" tIns="0" rIns="0" bIns="0"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Forecasting &amp; Analytics Value</a:t>
            </a:r>
            <a:endParaRPr lang="en-US" sz="2400" dirty="0"/>
          </a:p>
        </p:txBody>
      </p:sp>
      <p:sp>
        <p:nvSpPr>
          <p:cNvPr id="4" name="Text 2"/>
          <p:cNvSpPr/>
          <p:nvPr/>
        </p:nvSpPr>
        <p:spPr>
          <a:xfrm>
            <a:off x="365760" y="896112"/>
            <a:ext cx="5029200" cy="320040"/>
          </a:xfrm>
          <a:prstGeom prst="rect">
            <a:avLst/>
          </a:prstGeom>
          <a:noFill/>
          <a:ln/>
        </p:spPr>
        <p:txBody>
          <a:bodyPr wrap="square" rtlCol="0" anchor="ctr"/>
          <a:lstStyle/>
          <a:p>
            <a:pPr marL="0" indent="0">
              <a:buNone/>
            </a:pPr>
            <a:r>
              <a:rPr lang="en-US" sz="1400" b="1" dirty="0">
                <a:solidFill>
                  <a:srgbClr val="1B2A4A"/>
                </a:solidFill>
                <a:latin typeface="Calibri" pitchFamily="34" charset="0"/>
                <a:ea typeface="Calibri" pitchFamily="34" charset="-122"/>
                <a:cs typeface="Calibri" pitchFamily="34" charset="-120"/>
              </a:rPr>
              <a:t>Three-Scenario Forecast Model</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261872"/>
          <a:ext cx="5029200" cy="1572768"/>
        </p:xfrm>
        <a:graphic>
          <a:graphicData uri="http://schemas.openxmlformats.org/drawingml/2006/table">
            <a:tbl>
              <a:tblPr/>
              <a:tblGrid>
                <a:gridCol w="1257300">
                  <a:extLst>
                    <a:ext uri="{9D8B030D-6E8A-4147-A177-3AD203B41FA5}">
                      <a16:colId xmlns:a16="http://schemas.microsoft.com/office/drawing/2014/main" val="20000"/>
                    </a:ext>
                  </a:extLst>
                </a:gridCol>
                <a:gridCol w="1257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1257300">
                  <a:extLst>
                    <a:ext uri="{9D8B030D-6E8A-4147-A177-3AD203B41FA5}">
                      <a16:colId xmlns:a16="http://schemas.microsoft.com/office/drawing/2014/main" val="20003"/>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Scenario</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Growth Rate</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Churn Rate</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Forecast EBITDA</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Base Case</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2F5F1"/>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2F5F1"/>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2F5F1"/>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Moderate positive</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2F5F1"/>
                    </a:solidFill>
                  </a:tcPr>
                </a:tc>
                <a:extLst>
                  <a:ext uri="{0D108BD9-81ED-4DB2-BD59-A6C34878D82A}">
                    <a16:rowId xmlns:a16="http://schemas.microsoft.com/office/drawing/2014/main" val="10001"/>
                  </a:ext>
                </a:extLst>
              </a:tr>
              <a:tr h="329184">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Bull Case</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1.5%</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200" dirty="0">
                          <a:solidFill>
                            <a:srgbClr val="1E293B"/>
                          </a:solidFill>
                          <a:latin typeface="Calibri" pitchFamily="34" charset="0"/>
                          <a:ea typeface="Calibri" pitchFamily="34" charset="-122"/>
                          <a:cs typeface="Calibri" pitchFamily="34" charset="-120"/>
                        </a:rPr>
                        <a:t>Strong improvement</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buNone/>
                      </a:pPr>
                      <a:r>
                        <a:rPr lang="en-US" sz="1200" dirty="0">
                          <a:solidFill>
                            <a:srgbClr val="DC2626"/>
                          </a:solidFill>
                          <a:latin typeface="Calibri" pitchFamily="34" charset="0"/>
                          <a:ea typeface="Calibri" pitchFamily="34" charset="-122"/>
                          <a:cs typeface="Calibri" pitchFamily="34" charset="-120"/>
                        </a:rPr>
                        <a:t>Bear Case</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200" dirty="0">
                          <a:solidFill>
                            <a:srgbClr val="DC2626"/>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200" dirty="0">
                          <a:solidFill>
                            <a:srgbClr val="DC2626"/>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2F2"/>
                    </a:solidFill>
                  </a:tcPr>
                </a:tc>
                <a:tc>
                  <a:txBody>
                    <a:bodyPr/>
                    <a:lstStyle/>
                    <a:p>
                      <a:pPr marL="0" indent="0">
                        <a:buNone/>
                      </a:pPr>
                      <a:r>
                        <a:rPr lang="en-US" sz="1200" dirty="0">
                          <a:solidFill>
                            <a:srgbClr val="DC2626"/>
                          </a:solidFill>
                          <a:latin typeface="Calibri" pitchFamily="34" charset="0"/>
                          <a:ea typeface="Calibri" pitchFamily="34" charset="-122"/>
                          <a:cs typeface="Calibri" pitchFamily="34" charset="-120"/>
                        </a:rPr>
                        <a:t>Deeper loss</a:t>
                      </a:r>
                      <a:endParaRPr lang="en-US" sz="1200" dirty="0">
                        <a:latin typeface="Calibri" charset="0"/>
                        <a:ea typeface="Calibri" charset="0"/>
                        <a:cs typeface="Calibri" charset="0"/>
                      </a:endParaRPr>
                    </a:p>
                  </a:txBody>
                  <a:tcP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EF2F2"/>
                    </a:solidFill>
                  </a:tcPr>
                </a:tc>
                <a:extLst>
                  <a:ext uri="{0D108BD9-81ED-4DB2-BD59-A6C34878D82A}">
                    <a16:rowId xmlns:a16="http://schemas.microsoft.com/office/drawing/2014/main" val="10003"/>
                  </a:ext>
                </a:extLst>
              </a:tr>
            </a:tbl>
          </a:graphicData>
        </a:graphic>
      </p:graphicFrame>
      <p:sp>
        <p:nvSpPr>
          <p:cNvPr id="6" name="Shape 3"/>
          <p:cNvSpPr/>
          <p:nvPr/>
        </p:nvSpPr>
        <p:spPr>
          <a:xfrm>
            <a:off x="5669280" y="896112"/>
            <a:ext cx="3200400" cy="3931920"/>
          </a:xfrm>
          <a:prstGeom prst="rect">
            <a:avLst/>
          </a:prstGeom>
          <a:solidFill>
            <a:srgbClr val="1B2A4A"/>
          </a:solidFill>
          <a:ln w="12700">
            <a:solidFill>
              <a:srgbClr val="1B2A4A"/>
            </a:solidFill>
            <a:prstDash val="solid"/>
          </a:ln>
        </p:spPr>
        <p:txBody>
          <a:bodyPr/>
          <a:lstStyle/>
          <a:p>
            <a:endParaRPr lang="en-US"/>
          </a:p>
        </p:txBody>
      </p:sp>
      <p:sp>
        <p:nvSpPr>
          <p:cNvPr id="7" name="Text 4"/>
          <p:cNvSpPr/>
          <p:nvPr/>
        </p:nvSpPr>
        <p:spPr>
          <a:xfrm>
            <a:off x="5806440" y="1005840"/>
            <a:ext cx="2926080" cy="365760"/>
          </a:xfrm>
          <a:prstGeom prst="rect">
            <a:avLst/>
          </a:prstGeom>
          <a:noFill/>
          <a:ln/>
        </p:spPr>
        <p:txBody>
          <a:bodyPr wrap="square" rtlCol="0" anchor="ctr"/>
          <a:lstStyle/>
          <a:p>
            <a:pPr marL="0" indent="0">
              <a:buNone/>
            </a:pPr>
            <a:r>
              <a:rPr lang="en-US" sz="1400" b="1" dirty="0">
                <a:solidFill>
                  <a:srgbClr val="14B8A6"/>
                </a:solidFill>
                <a:latin typeface="Calibri" pitchFamily="34" charset="0"/>
                <a:ea typeface="Calibri" pitchFamily="34" charset="-122"/>
                <a:cs typeface="Calibri" pitchFamily="34" charset="-120"/>
              </a:rPr>
              <a:t>Analytics Capabilities</a:t>
            </a:r>
            <a:endParaRPr lang="en-US" sz="1400" dirty="0"/>
          </a:p>
        </p:txBody>
      </p:sp>
      <p:sp>
        <p:nvSpPr>
          <p:cNvPr id="8" name="Text 5"/>
          <p:cNvSpPr/>
          <p:nvPr/>
        </p:nvSpPr>
        <p:spPr>
          <a:xfrm>
            <a:off x="5806440" y="1463040"/>
            <a:ext cx="2926080" cy="3108960"/>
          </a:xfrm>
          <a:prstGeom prst="rect">
            <a:avLst/>
          </a:prstGeom>
          <a:noFill/>
          <a:ln/>
        </p:spPr>
        <p:txBody>
          <a:bodyPr wrap="square" rtlCol="0" anchor="ctr"/>
          <a:lstStyle/>
          <a:p>
            <a:pPr marL="342900" indent="-342900">
              <a:buSzPct val="100000"/>
              <a:buChar char="•"/>
            </a:pPr>
            <a:r>
              <a:rPr lang="en-US" sz="1150" dirty="0">
                <a:solidFill>
                  <a:srgbClr val="B0C4D8"/>
                </a:solidFill>
                <a:latin typeface="Calibri" pitchFamily="34" charset="0"/>
                <a:ea typeface="Calibri" pitchFamily="34" charset="-122"/>
                <a:cs typeface="Calibri" pitchFamily="34" charset="-120"/>
              </a:rPr>
              <a:t>Scenario-based revenue &amp; EBITDA forecasting</a:t>
            </a:r>
            <a:endParaRPr lang="en-US" sz="1150" dirty="0"/>
          </a:p>
          <a:p>
            <a:pPr marL="342900" indent="-342900">
              <a:buSzPct val="100000"/>
              <a:buChar char="•"/>
            </a:pPr>
            <a:r>
              <a:rPr lang="en-US" sz="1150" dirty="0">
                <a:solidFill>
                  <a:srgbClr val="B0C4D8"/>
                </a:solidFill>
                <a:latin typeface="Calibri" pitchFamily="34" charset="0"/>
                <a:ea typeface="Calibri" pitchFamily="34" charset="-122"/>
                <a:cs typeface="Calibri" pitchFamily="34" charset="-120"/>
              </a:rPr>
              <a:t>Automated KPI risk flagging (churn, CAC)</a:t>
            </a:r>
            <a:endParaRPr lang="en-US" sz="1150" dirty="0"/>
          </a:p>
          <a:p>
            <a:pPr marL="342900" indent="-342900">
              <a:buSzPct val="100000"/>
              <a:buChar char="•"/>
            </a:pPr>
            <a:r>
              <a:rPr lang="en-US" sz="1150" dirty="0">
                <a:solidFill>
                  <a:srgbClr val="B0C4D8"/>
                </a:solidFill>
                <a:latin typeface="Calibri" pitchFamily="34" charset="0"/>
                <a:ea typeface="Calibri" pitchFamily="34" charset="-122"/>
                <a:cs typeface="Calibri" pitchFamily="34" charset="-120"/>
              </a:rPr>
              <a:t>Dynamic expense variance alerts</a:t>
            </a:r>
            <a:endParaRPr lang="en-US" sz="1150" dirty="0"/>
          </a:p>
          <a:p>
            <a:pPr marL="342900" indent="-342900">
              <a:buSzPct val="100000"/>
              <a:buChar char="•"/>
            </a:pPr>
            <a:r>
              <a:rPr lang="en-US" sz="1150" dirty="0">
                <a:solidFill>
                  <a:srgbClr val="B0C4D8"/>
                </a:solidFill>
                <a:latin typeface="Calibri" pitchFamily="34" charset="0"/>
                <a:ea typeface="Calibri" pitchFamily="34" charset="-122"/>
                <a:cs typeface="Calibri" pitchFamily="34" charset="-120"/>
              </a:rPr>
              <a:t>Month-over-month EBITDA trend tracking</a:t>
            </a:r>
            <a:endParaRPr lang="en-US" sz="1150" dirty="0"/>
          </a:p>
          <a:p>
            <a:pPr marL="342900" indent="-342900">
              <a:buSzPct val="100000"/>
              <a:buChar char="•"/>
            </a:pPr>
            <a:r>
              <a:rPr lang="en-US" sz="1150" dirty="0">
                <a:solidFill>
                  <a:srgbClr val="B0C4D8"/>
                </a:solidFill>
                <a:latin typeface="Calibri" pitchFamily="34" charset="0"/>
                <a:ea typeface="Calibri" pitchFamily="34" charset="-122"/>
                <a:cs typeface="Calibri" pitchFamily="34" charset="-120"/>
              </a:rPr>
              <a:t>CFO auto-commentary generation</a:t>
            </a:r>
            <a:endParaRPr lang="en-US" sz="1150" dirty="0"/>
          </a:p>
          <a:p>
            <a:pPr marL="342900" indent="-342900">
              <a:buSzPct val="100000"/>
              <a:buChar char="•"/>
            </a:pPr>
            <a:r>
              <a:rPr lang="en-US" sz="1150" dirty="0">
                <a:solidFill>
                  <a:srgbClr val="B0C4D8"/>
                </a:solidFill>
                <a:latin typeface="Calibri" pitchFamily="34" charset="0"/>
                <a:ea typeface="Calibri" pitchFamily="34" charset="-122"/>
                <a:cs typeface="Calibri" pitchFamily="34" charset="-120"/>
              </a:rPr>
              <a:t>SQL-based ad hoc financial queries</a:t>
            </a:r>
            <a:endParaRPr lang="en-US" sz="1150" dirty="0"/>
          </a:p>
        </p:txBody>
      </p:sp>
      <p:sp>
        <p:nvSpPr>
          <p:cNvPr id="9" name="Shape 6"/>
          <p:cNvSpPr/>
          <p:nvPr/>
        </p:nvSpPr>
        <p:spPr>
          <a:xfrm>
            <a:off x="365760" y="2926080"/>
            <a:ext cx="1600200" cy="1051560"/>
          </a:xfrm>
          <a:prstGeom prst="rect">
            <a:avLst/>
          </a:prstGeom>
          <a:solidFill>
            <a:srgbClr val="0D9488"/>
          </a:solidFill>
          <a:ln w="12700">
            <a:solidFill>
              <a:srgbClr val="0D9488"/>
            </a:solidFill>
            <a:prstDash val="solid"/>
          </a:ln>
        </p:spPr>
        <p:txBody>
          <a:bodyPr/>
          <a:lstStyle/>
          <a:p>
            <a:endParaRPr lang="en-US"/>
          </a:p>
        </p:txBody>
      </p:sp>
      <p:sp>
        <p:nvSpPr>
          <p:cNvPr id="5" name="Text 7"/>
          <p:cNvSpPr/>
          <p:nvPr/>
        </p:nvSpPr>
        <p:spPr>
          <a:xfrm>
            <a:off x="365760" y="2999232"/>
            <a:ext cx="1600200" cy="5029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3</a:t>
            </a:r>
            <a:endParaRPr lang="en-US" sz="3200" dirty="0"/>
          </a:p>
        </p:txBody>
      </p:sp>
      <p:sp>
        <p:nvSpPr>
          <p:cNvPr id="11" name="Text 8"/>
          <p:cNvSpPr/>
          <p:nvPr/>
        </p:nvSpPr>
        <p:spPr>
          <a:xfrm>
            <a:off x="365760" y="3520440"/>
            <a:ext cx="1600200" cy="347472"/>
          </a:xfrm>
          <a:prstGeom prst="rect">
            <a:avLst/>
          </a:prstGeom>
          <a:noFill/>
          <a:ln/>
        </p:spPr>
        <p:txBody>
          <a:bodyPr wrap="square" rtlCol="0" anchor="ctr"/>
          <a:lstStyle/>
          <a:p>
            <a:pPr marL="0" indent="0" algn="ctr">
              <a:buNone/>
            </a:pPr>
            <a:r>
              <a:rPr lang="en-US" sz="1050" dirty="0">
                <a:solidFill>
                  <a:srgbClr val="CFFAF4"/>
                </a:solidFill>
                <a:latin typeface="Calibri" pitchFamily="34" charset="0"/>
                <a:ea typeface="Calibri" pitchFamily="34" charset="-122"/>
                <a:cs typeface="Calibri" pitchFamily="34" charset="-120"/>
              </a:rPr>
              <a:t>Forecast Scenarios</a:t>
            </a:r>
            <a:endParaRPr lang="en-US" sz="1050" dirty="0"/>
          </a:p>
        </p:txBody>
      </p:sp>
      <p:sp>
        <p:nvSpPr>
          <p:cNvPr id="12" name="Shape 9"/>
          <p:cNvSpPr/>
          <p:nvPr/>
        </p:nvSpPr>
        <p:spPr>
          <a:xfrm>
            <a:off x="2148840" y="2926080"/>
            <a:ext cx="1600200" cy="1051560"/>
          </a:xfrm>
          <a:prstGeom prst="rect">
            <a:avLst/>
          </a:prstGeom>
          <a:solidFill>
            <a:srgbClr val="0D9488"/>
          </a:solidFill>
          <a:ln w="12700">
            <a:solidFill>
              <a:srgbClr val="0D9488"/>
            </a:solidFill>
            <a:prstDash val="solid"/>
          </a:ln>
        </p:spPr>
        <p:txBody>
          <a:bodyPr/>
          <a:lstStyle/>
          <a:p>
            <a:endParaRPr lang="en-US"/>
          </a:p>
        </p:txBody>
      </p:sp>
      <p:sp>
        <p:nvSpPr>
          <p:cNvPr id="13" name="Text 10"/>
          <p:cNvSpPr/>
          <p:nvPr/>
        </p:nvSpPr>
        <p:spPr>
          <a:xfrm>
            <a:off x="2148840" y="2999232"/>
            <a:ext cx="1600200" cy="5029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12</a:t>
            </a:r>
            <a:endParaRPr lang="en-US" sz="3200" dirty="0"/>
          </a:p>
        </p:txBody>
      </p:sp>
      <p:sp>
        <p:nvSpPr>
          <p:cNvPr id="14" name="Text 11"/>
          <p:cNvSpPr/>
          <p:nvPr/>
        </p:nvSpPr>
        <p:spPr>
          <a:xfrm>
            <a:off x="2148840" y="3520440"/>
            <a:ext cx="1600200" cy="347472"/>
          </a:xfrm>
          <a:prstGeom prst="rect">
            <a:avLst/>
          </a:prstGeom>
          <a:noFill/>
          <a:ln/>
        </p:spPr>
        <p:txBody>
          <a:bodyPr wrap="square" rtlCol="0" anchor="ctr"/>
          <a:lstStyle/>
          <a:p>
            <a:pPr marL="0" indent="0" algn="ctr">
              <a:buNone/>
            </a:pPr>
            <a:r>
              <a:rPr lang="en-US" sz="1050" dirty="0">
                <a:solidFill>
                  <a:srgbClr val="CFFAF4"/>
                </a:solidFill>
                <a:latin typeface="Calibri" pitchFamily="34" charset="0"/>
                <a:ea typeface="Calibri" pitchFamily="34" charset="-122"/>
                <a:cs typeface="Calibri" pitchFamily="34" charset="-120"/>
              </a:rPr>
              <a:t>SQL Analysis</a:t>
            </a:r>
            <a:endParaRPr lang="en-US" sz="1050" dirty="0"/>
          </a:p>
        </p:txBody>
      </p:sp>
      <p:sp>
        <p:nvSpPr>
          <p:cNvPr id="15" name="Shape 12"/>
          <p:cNvSpPr/>
          <p:nvPr/>
        </p:nvSpPr>
        <p:spPr>
          <a:xfrm>
            <a:off x="3931920" y="2926080"/>
            <a:ext cx="1600200" cy="1051560"/>
          </a:xfrm>
          <a:prstGeom prst="rect">
            <a:avLst/>
          </a:prstGeom>
          <a:solidFill>
            <a:srgbClr val="0D9488"/>
          </a:solidFill>
          <a:ln w="12700">
            <a:solidFill>
              <a:srgbClr val="0D9488"/>
            </a:solidFill>
            <a:prstDash val="solid"/>
          </a:ln>
        </p:spPr>
        <p:txBody>
          <a:bodyPr/>
          <a:lstStyle/>
          <a:p>
            <a:endParaRPr lang="en-US"/>
          </a:p>
        </p:txBody>
      </p:sp>
      <p:sp>
        <p:nvSpPr>
          <p:cNvPr id="16" name="Text 13"/>
          <p:cNvSpPr/>
          <p:nvPr/>
        </p:nvSpPr>
        <p:spPr>
          <a:xfrm>
            <a:off x="3931920" y="2999232"/>
            <a:ext cx="1600200" cy="5029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6</a:t>
            </a:r>
            <a:endParaRPr lang="en-US" sz="3200" dirty="0"/>
          </a:p>
        </p:txBody>
      </p:sp>
      <p:sp>
        <p:nvSpPr>
          <p:cNvPr id="17" name="Text 14"/>
          <p:cNvSpPr/>
          <p:nvPr/>
        </p:nvSpPr>
        <p:spPr>
          <a:xfrm>
            <a:off x="3931920" y="3520440"/>
            <a:ext cx="1600200" cy="347472"/>
          </a:xfrm>
          <a:prstGeom prst="rect">
            <a:avLst/>
          </a:prstGeom>
          <a:noFill/>
          <a:ln/>
        </p:spPr>
        <p:txBody>
          <a:bodyPr wrap="square" rtlCol="0" anchor="ctr"/>
          <a:lstStyle/>
          <a:p>
            <a:pPr marL="0" indent="0" algn="ctr">
              <a:buNone/>
            </a:pPr>
            <a:r>
              <a:rPr lang="en-US" sz="1050" dirty="0">
                <a:solidFill>
                  <a:srgbClr val="CFFAF4"/>
                </a:solidFill>
                <a:latin typeface="Calibri" pitchFamily="34" charset="0"/>
                <a:ea typeface="Calibri" pitchFamily="34" charset="-122"/>
                <a:cs typeface="Calibri" pitchFamily="34" charset="-120"/>
              </a:rPr>
              <a:t>Python Forecasting</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5029200" y="32004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 name="Shape 1"/>
          <p:cNvSpPr/>
          <p:nvPr/>
        </p:nvSpPr>
        <p:spPr>
          <a:xfrm>
            <a:off x="5029200" y="86868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4" name="Shape 2"/>
          <p:cNvSpPr/>
          <p:nvPr/>
        </p:nvSpPr>
        <p:spPr>
          <a:xfrm>
            <a:off x="5029200" y="141732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5" name="Shape 3"/>
          <p:cNvSpPr/>
          <p:nvPr/>
        </p:nvSpPr>
        <p:spPr>
          <a:xfrm>
            <a:off x="5029200" y="196596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6" name="Shape 4"/>
          <p:cNvSpPr/>
          <p:nvPr/>
        </p:nvSpPr>
        <p:spPr>
          <a:xfrm>
            <a:off x="5029200" y="251460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7" name="Shape 5"/>
          <p:cNvSpPr/>
          <p:nvPr/>
        </p:nvSpPr>
        <p:spPr>
          <a:xfrm>
            <a:off x="5532120" y="32004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8" name="Shape 6"/>
          <p:cNvSpPr/>
          <p:nvPr/>
        </p:nvSpPr>
        <p:spPr>
          <a:xfrm>
            <a:off x="5532120" y="86868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9" name="Shape 7"/>
          <p:cNvSpPr/>
          <p:nvPr/>
        </p:nvSpPr>
        <p:spPr>
          <a:xfrm>
            <a:off x="5532120" y="141732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0" name="Shape 8"/>
          <p:cNvSpPr/>
          <p:nvPr/>
        </p:nvSpPr>
        <p:spPr>
          <a:xfrm>
            <a:off x="5532120" y="196596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1" name="Shape 9"/>
          <p:cNvSpPr/>
          <p:nvPr/>
        </p:nvSpPr>
        <p:spPr>
          <a:xfrm>
            <a:off x="5532120" y="251460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2" name="Shape 10"/>
          <p:cNvSpPr/>
          <p:nvPr/>
        </p:nvSpPr>
        <p:spPr>
          <a:xfrm>
            <a:off x="6035040" y="32004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3" name="Shape 11"/>
          <p:cNvSpPr/>
          <p:nvPr/>
        </p:nvSpPr>
        <p:spPr>
          <a:xfrm>
            <a:off x="6035040" y="86868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4" name="Shape 12"/>
          <p:cNvSpPr/>
          <p:nvPr/>
        </p:nvSpPr>
        <p:spPr>
          <a:xfrm>
            <a:off x="6035040" y="141732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5" name="Shape 13"/>
          <p:cNvSpPr/>
          <p:nvPr/>
        </p:nvSpPr>
        <p:spPr>
          <a:xfrm>
            <a:off x="6035040" y="196596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6" name="Shape 14"/>
          <p:cNvSpPr/>
          <p:nvPr/>
        </p:nvSpPr>
        <p:spPr>
          <a:xfrm>
            <a:off x="6035040" y="251460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7" name="Shape 15"/>
          <p:cNvSpPr/>
          <p:nvPr/>
        </p:nvSpPr>
        <p:spPr>
          <a:xfrm>
            <a:off x="6537960" y="32004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8" name="Shape 16"/>
          <p:cNvSpPr/>
          <p:nvPr/>
        </p:nvSpPr>
        <p:spPr>
          <a:xfrm>
            <a:off x="6537960" y="86868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19" name="Shape 17"/>
          <p:cNvSpPr/>
          <p:nvPr/>
        </p:nvSpPr>
        <p:spPr>
          <a:xfrm>
            <a:off x="6537960" y="141732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0" name="Shape 18"/>
          <p:cNvSpPr/>
          <p:nvPr/>
        </p:nvSpPr>
        <p:spPr>
          <a:xfrm>
            <a:off x="6537960" y="196596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1" name="Shape 19"/>
          <p:cNvSpPr/>
          <p:nvPr/>
        </p:nvSpPr>
        <p:spPr>
          <a:xfrm>
            <a:off x="6537960" y="251460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2" name="Shape 20"/>
          <p:cNvSpPr/>
          <p:nvPr/>
        </p:nvSpPr>
        <p:spPr>
          <a:xfrm>
            <a:off x="7040880" y="32004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3" name="Shape 21"/>
          <p:cNvSpPr/>
          <p:nvPr/>
        </p:nvSpPr>
        <p:spPr>
          <a:xfrm>
            <a:off x="7040880" y="86868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4" name="Shape 22"/>
          <p:cNvSpPr/>
          <p:nvPr/>
        </p:nvSpPr>
        <p:spPr>
          <a:xfrm>
            <a:off x="7040880" y="141732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5" name="Shape 23"/>
          <p:cNvSpPr/>
          <p:nvPr/>
        </p:nvSpPr>
        <p:spPr>
          <a:xfrm>
            <a:off x="7040880" y="196596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6" name="Shape 24"/>
          <p:cNvSpPr/>
          <p:nvPr/>
        </p:nvSpPr>
        <p:spPr>
          <a:xfrm>
            <a:off x="7040880" y="251460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7" name="Shape 25"/>
          <p:cNvSpPr/>
          <p:nvPr/>
        </p:nvSpPr>
        <p:spPr>
          <a:xfrm>
            <a:off x="7543800" y="32004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8" name="Shape 26"/>
          <p:cNvSpPr/>
          <p:nvPr/>
        </p:nvSpPr>
        <p:spPr>
          <a:xfrm>
            <a:off x="7543800" y="86868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29" name="Shape 27"/>
          <p:cNvSpPr/>
          <p:nvPr/>
        </p:nvSpPr>
        <p:spPr>
          <a:xfrm>
            <a:off x="7543800" y="141732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0" name="Shape 28"/>
          <p:cNvSpPr/>
          <p:nvPr/>
        </p:nvSpPr>
        <p:spPr>
          <a:xfrm>
            <a:off x="7543800" y="196596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1" name="Shape 29"/>
          <p:cNvSpPr/>
          <p:nvPr/>
        </p:nvSpPr>
        <p:spPr>
          <a:xfrm>
            <a:off x="7543800" y="251460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2" name="Shape 30"/>
          <p:cNvSpPr/>
          <p:nvPr/>
        </p:nvSpPr>
        <p:spPr>
          <a:xfrm>
            <a:off x="8046720" y="32004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3" name="Shape 31"/>
          <p:cNvSpPr/>
          <p:nvPr/>
        </p:nvSpPr>
        <p:spPr>
          <a:xfrm>
            <a:off x="8046720" y="86868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4" name="Shape 32"/>
          <p:cNvSpPr/>
          <p:nvPr/>
        </p:nvSpPr>
        <p:spPr>
          <a:xfrm>
            <a:off x="8046720" y="141732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5" name="Shape 33"/>
          <p:cNvSpPr/>
          <p:nvPr/>
        </p:nvSpPr>
        <p:spPr>
          <a:xfrm>
            <a:off x="8046720" y="196596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6" name="Shape 34"/>
          <p:cNvSpPr/>
          <p:nvPr/>
        </p:nvSpPr>
        <p:spPr>
          <a:xfrm>
            <a:off x="8046720" y="251460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7" name="Shape 35"/>
          <p:cNvSpPr/>
          <p:nvPr/>
        </p:nvSpPr>
        <p:spPr>
          <a:xfrm>
            <a:off x="8549640" y="32004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8" name="Shape 36"/>
          <p:cNvSpPr/>
          <p:nvPr/>
        </p:nvSpPr>
        <p:spPr>
          <a:xfrm>
            <a:off x="8549640" y="86868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39" name="Shape 37"/>
          <p:cNvSpPr/>
          <p:nvPr/>
        </p:nvSpPr>
        <p:spPr>
          <a:xfrm>
            <a:off x="8549640" y="141732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40" name="Shape 38"/>
          <p:cNvSpPr/>
          <p:nvPr/>
        </p:nvSpPr>
        <p:spPr>
          <a:xfrm>
            <a:off x="8549640" y="196596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41" name="Shape 39"/>
          <p:cNvSpPr/>
          <p:nvPr/>
        </p:nvSpPr>
        <p:spPr>
          <a:xfrm>
            <a:off x="8549640" y="2514600"/>
            <a:ext cx="64008" cy="64008"/>
          </a:xfrm>
          <a:prstGeom prst="ellipse">
            <a:avLst/>
          </a:prstGeom>
          <a:solidFill>
            <a:srgbClr val="0D9488">
              <a:alpha val="35000"/>
            </a:srgbClr>
          </a:solidFill>
          <a:ln w="12700">
            <a:solidFill>
              <a:srgbClr val="0D9488">
                <a:alpha val="35000"/>
              </a:srgbClr>
            </a:solidFill>
            <a:prstDash val="solid"/>
          </a:ln>
        </p:spPr>
        <p:txBody>
          <a:bodyPr/>
          <a:lstStyle/>
          <a:p>
            <a:endParaRPr lang="en-US"/>
          </a:p>
        </p:txBody>
      </p:sp>
      <p:sp>
        <p:nvSpPr>
          <p:cNvPr id="42" name="Shape 40"/>
          <p:cNvSpPr/>
          <p:nvPr/>
        </p:nvSpPr>
        <p:spPr>
          <a:xfrm>
            <a:off x="0" y="0"/>
            <a:ext cx="109728" cy="5143500"/>
          </a:xfrm>
          <a:prstGeom prst="rect">
            <a:avLst/>
          </a:prstGeom>
          <a:solidFill>
            <a:srgbClr val="0D9488"/>
          </a:solidFill>
          <a:ln w="12700">
            <a:solidFill>
              <a:srgbClr val="0D9488"/>
            </a:solidFill>
            <a:prstDash val="solid"/>
          </a:ln>
        </p:spPr>
        <p:txBody>
          <a:bodyPr/>
          <a:lstStyle/>
          <a:p>
            <a:endParaRPr lang="en-US"/>
          </a:p>
        </p:txBody>
      </p:sp>
      <p:sp>
        <p:nvSpPr>
          <p:cNvPr id="43" name="Text 41"/>
          <p:cNvSpPr/>
          <p:nvPr/>
        </p:nvSpPr>
        <p:spPr>
          <a:xfrm>
            <a:off x="365760" y="365760"/>
            <a:ext cx="5486400" cy="457200"/>
          </a:xfrm>
          <a:prstGeom prst="rect">
            <a:avLst/>
          </a:prstGeom>
          <a:noFill/>
          <a:ln/>
        </p:spPr>
        <p:txBody>
          <a:bodyPr wrap="square" rtlCol="0" anchor="ctr"/>
          <a:lstStyle/>
          <a:p>
            <a:pPr marL="0" indent="0">
              <a:buNone/>
            </a:pPr>
            <a:r>
              <a:rPr lang="en-US" sz="1400" b="1" kern="0" spc="300" dirty="0">
                <a:solidFill>
                  <a:srgbClr val="14B8A6"/>
                </a:solidFill>
                <a:latin typeface="Calibri" pitchFamily="34" charset="0"/>
                <a:ea typeface="Calibri" pitchFamily="34" charset="-122"/>
                <a:cs typeface="Calibri" pitchFamily="34" charset="-120"/>
              </a:rPr>
              <a:t>Project Summary</a:t>
            </a:r>
            <a:endParaRPr lang="en-US" sz="1400" dirty="0"/>
          </a:p>
        </p:txBody>
      </p:sp>
      <p:sp>
        <p:nvSpPr>
          <p:cNvPr id="44" name="Text 42"/>
          <p:cNvSpPr/>
          <p:nvPr/>
        </p:nvSpPr>
        <p:spPr>
          <a:xfrm>
            <a:off x="365760" y="804672"/>
            <a:ext cx="6858000" cy="1371600"/>
          </a:xfrm>
          <a:prstGeom prst="rect">
            <a:avLst/>
          </a:prstGeom>
          <a:noFill/>
          <a:ln/>
        </p:spPr>
        <p:txBody>
          <a:bodyPr wrap="square"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End-to-End FP&amp;A</a:t>
            </a:r>
            <a:endParaRPr lang="en-US" sz="3600" dirty="0"/>
          </a:p>
          <a:p>
            <a:pPr marL="0" indent="0">
              <a:buNone/>
            </a:pPr>
            <a:r>
              <a:rPr lang="en-US" sz="3600" b="1" dirty="0">
                <a:solidFill>
                  <a:srgbClr val="FFFFFF"/>
                </a:solidFill>
                <a:latin typeface="Calibri" pitchFamily="34" charset="0"/>
                <a:ea typeface="Calibri" pitchFamily="34" charset="-122"/>
                <a:cs typeface="Calibri" pitchFamily="34" charset="-120"/>
              </a:rPr>
              <a:t>Analytics Delivered.</a:t>
            </a:r>
            <a:endParaRPr lang="en-US" sz="3600" dirty="0"/>
          </a:p>
        </p:txBody>
      </p:sp>
      <p:sp>
        <p:nvSpPr>
          <p:cNvPr id="45" name="Shape 43"/>
          <p:cNvSpPr/>
          <p:nvPr/>
        </p:nvSpPr>
        <p:spPr>
          <a:xfrm>
            <a:off x="320040" y="2423160"/>
            <a:ext cx="1508760" cy="1508760"/>
          </a:xfrm>
          <a:prstGeom prst="rect">
            <a:avLst/>
          </a:prstGeom>
          <a:solidFill>
            <a:srgbClr val="162740"/>
          </a:solidFill>
          <a:ln w="12700">
            <a:solidFill>
              <a:srgbClr val="243B55"/>
            </a:solidFill>
            <a:prstDash val="solid"/>
          </a:ln>
        </p:spPr>
        <p:txBody>
          <a:bodyPr/>
          <a:lstStyle/>
          <a:p>
            <a:endParaRPr lang="en-US"/>
          </a:p>
        </p:txBody>
      </p:sp>
      <p:sp>
        <p:nvSpPr>
          <p:cNvPr id="46" name="Shape 44"/>
          <p:cNvSpPr/>
          <p:nvPr/>
        </p:nvSpPr>
        <p:spPr>
          <a:xfrm>
            <a:off x="800100" y="2514600"/>
            <a:ext cx="548640" cy="548640"/>
          </a:xfrm>
          <a:prstGeom prst="ellipse">
            <a:avLst/>
          </a:prstGeom>
          <a:solidFill>
            <a:srgbClr val="0D9488"/>
          </a:solidFill>
          <a:ln w="12700">
            <a:solidFill>
              <a:srgbClr val="0D9488"/>
            </a:solidFill>
            <a:prstDash val="solid"/>
          </a:ln>
        </p:spPr>
        <p:txBody>
          <a:bodyPr/>
          <a:lstStyle/>
          <a:p>
            <a:endParaRPr lang="en-US"/>
          </a:p>
        </p:txBody>
      </p:sp>
      <p:pic>
        <p:nvPicPr>
          <p:cNvPr id="47" name="Image 0" descr="preencoded.png"/>
          <p:cNvPicPr>
            <a:picLocks noChangeAspect="1"/>
          </p:cNvPicPr>
          <p:nvPr/>
        </p:nvPicPr>
        <p:blipFill>
          <a:blip r:embed="rId3"/>
          <a:stretch>
            <a:fillRect/>
          </a:stretch>
        </p:blipFill>
        <p:spPr>
          <a:xfrm>
            <a:off x="864108" y="2578608"/>
            <a:ext cx="420624" cy="420624"/>
          </a:xfrm>
          <a:prstGeom prst="rect">
            <a:avLst/>
          </a:prstGeom>
        </p:spPr>
      </p:pic>
      <p:sp>
        <p:nvSpPr>
          <p:cNvPr id="48" name="Text 45"/>
          <p:cNvSpPr/>
          <p:nvPr/>
        </p:nvSpPr>
        <p:spPr>
          <a:xfrm>
            <a:off x="365760" y="3145536"/>
            <a:ext cx="141732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Financial Modeling</a:t>
            </a:r>
            <a:endParaRPr lang="en-US" sz="1050" dirty="0"/>
          </a:p>
        </p:txBody>
      </p:sp>
      <p:sp>
        <p:nvSpPr>
          <p:cNvPr id="49" name="Text 46"/>
          <p:cNvSpPr/>
          <p:nvPr/>
        </p:nvSpPr>
        <p:spPr>
          <a:xfrm>
            <a:off x="365760" y="3529584"/>
            <a:ext cx="1417320" cy="320040"/>
          </a:xfrm>
          <a:prstGeom prst="rect">
            <a:avLst/>
          </a:prstGeom>
          <a:noFill/>
          <a:ln/>
        </p:spPr>
        <p:txBody>
          <a:bodyPr wrap="square" rtlCol="0" anchor="ctr"/>
          <a:lstStyle/>
          <a:p>
            <a:pPr marL="0" indent="0" algn="ctr">
              <a:buNone/>
            </a:pPr>
            <a:r>
              <a:rPr lang="en-US" sz="900" dirty="0">
                <a:solidFill>
                  <a:srgbClr val="14B8A6"/>
                </a:solidFill>
                <a:latin typeface="Calibri" pitchFamily="34" charset="0"/>
                <a:ea typeface="Calibri" pitchFamily="34" charset="-122"/>
                <a:cs typeface="Calibri" pitchFamily="34" charset="-120"/>
              </a:rPr>
              <a:t>Excel FP&amp;A Model</a:t>
            </a:r>
            <a:endParaRPr lang="en-US" sz="900" dirty="0"/>
          </a:p>
        </p:txBody>
      </p:sp>
      <p:sp>
        <p:nvSpPr>
          <p:cNvPr id="50" name="Shape 47"/>
          <p:cNvSpPr/>
          <p:nvPr/>
        </p:nvSpPr>
        <p:spPr>
          <a:xfrm>
            <a:off x="2020824" y="2423160"/>
            <a:ext cx="1508760" cy="1508760"/>
          </a:xfrm>
          <a:prstGeom prst="rect">
            <a:avLst/>
          </a:prstGeom>
          <a:solidFill>
            <a:srgbClr val="162740"/>
          </a:solidFill>
          <a:ln w="12700">
            <a:solidFill>
              <a:srgbClr val="243B55"/>
            </a:solidFill>
            <a:prstDash val="solid"/>
          </a:ln>
        </p:spPr>
        <p:txBody>
          <a:bodyPr/>
          <a:lstStyle/>
          <a:p>
            <a:endParaRPr lang="en-US"/>
          </a:p>
        </p:txBody>
      </p:sp>
      <p:sp>
        <p:nvSpPr>
          <p:cNvPr id="51" name="Shape 48"/>
          <p:cNvSpPr/>
          <p:nvPr/>
        </p:nvSpPr>
        <p:spPr>
          <a:xfrm>
            <a:off x="2500884" y="2514600"/>
            <a:ext cx="548640" cy="548640"/>
          </a:xfrm>
          <a:prstGeom prst="ellipse">
            <a:avLst/>
          </a:prstGeom>
          <a:solidFill>
            <a:srgbClr val="0D9488"/>
          </a:solidFill>
          <a:ln w="12700">
            <a:solidFill>
              <a:srgbClr val="0D9488"/>
            </a:solidFill>
            <a:prstDash val="solid"/>
          </a:ln>
        </p:spPr>
        <p:txBody>
          <a:bodyPr/>
          <a:lstStyle/>
          <a:p>
            <a:endParaRPr lang="en-US"/>
          </a:p>
        </p:txBody>
      </p:sp>
      <p:pic>
        <p:nvPicPr>
          <p:cNvPr id="52" name="Image 1" descr="preencoded.png"/>
          <p:cNvPicPr>
            <a:picLocks noChangeAspect="1"/>
          </p:cNvPicPr>
          <p:nvPr/>
        </p:nvPicPr>
        <p:blipFill>
          <a:blip r:embed="rId4"/>
          <a:stretch>
            <a:fillRect/>
          </a:stretch>
        </p:blipFill>
        <p:spPr>
          <a:xfrm>
            <a:off x="2564892" y="2578608"/>
            <a:ext cx="420624" cy="420624"/>
          </a:xfrm>
          <a:prstGeom prst="rect">
            <a:avLst/>
          </a:prstGeom>
        </p:spPr>
      </p:pic>
      <p:sp>
        <p:nvSpPr>
          <p:cNvPr id="53" name="Text 49"/>
          <p:cNvSpPr/>
          <p:nvPr/>
        </p:nvSpPr>
        <p:spPr>
          <a:xfrm>
            <a:off x="2066544" y="3145536"/>
            <a:ext cx="141732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SQL Analytics</a:t>
            </a:r>
            <a:endParaRPr lang="en-US" sz="1050" dirty="0"/>
          </a:p>
        </p:txBody>
      </p:sp>
      <p:sp>
        <p:nvSpPr>
          <p:cNvPr id="54" name="Text 50"/>
          <p:cNvSpPr/>
          <p:nvPr/>
        </p:nvSpPr>
        <p:spPr>
          <a:xfrm>
            <a:off x="2066544" y="3529584"/>
            <a:ext cx="1417320" cy="320040"/>
          </a:xfrm>
          <a:prstGeom prst="rect">
            <a:avLst/>
          </a:prstGeom>
          <a:noFill/>
          <a:ln/>
        </p:spPr>
        <p:txBody>
          <a:bodyPr wrap="square" rtlCol="0" anchor="ctr"/>
          <a:lstStyle/>
          <a:p>
            <a:pPr marL="0" indent="0" algn="ctr">
              <a:buNone/>
            </a:pPr>
            <a:r>
              <a:rPr lang="en-US" sz="900" dirty="0">
                <a:solidFill>
                  <a:srgbClr val="14B8A6"/>
                </a:solidFill>
                <a:latin typeface="Calibri" pitchFamily="34" charset="0"/>
                <a:ea typeface="Calibri" pitchFamily="34" charset="-122"/>
                <a:cs typeface="Calibri" pitchFamily="34" charset="-120"/>
              </a:rPr>
              <a:t>12 Business Queries</a:t>
            </a:r>
            <a:endParaRPr lang="en-US" sz="900" dirty="0"/>
          </a:p>
        </p:txBody>
      </p:sp>
      <p:sp>
        <p:nvSpPr>
          <p:cNvPr id="55" name="Shape 51"/>
          <p:cNvSpPr/>
          <p:nvPr/>
        </p:nvSpPr>
        <p:spPr>
          <a:xfrm>
            <a:off x="3721608" y="2423160"/>
            <a:ext cx="1508760" cy="1508760"/>
          </a:xfrm>
          <a:prstGeom prst="rect">
            <a:avLst/>
          </a:prstGeom>
          <a:solidFill>
            <a:srgbClr val="162740"/>
          </a:solidFill>
          <a:ln w="12700">
            <a:solidFill>
              <a:srgbClr val="243B55"/>
            </a:solidFill>
            <a:prstDash val="solid"/>
          </a:ln>
        </p:spPr>
        <p:txBody>
          <a:bodyPr/>
          <a:lstStyle/>
          <a:p>
            <a:endParaRPr lang="en-US"/>
          </a:p>
        </p:txBody>
      </p:sp>
      <p:sp>
        <p:nvSpPr>
          <p:cNvPr id="56" name="Shape 52"/>
          <p:cNvSpPr/>
          <p:nvPr/>
        </p:nvSpPr>
        <p:spPr>
          <a:xfrm>
            <a:off x="4201668" y="2514600"/>
            <a:ext cx="548640" cy="548640"/>
          </a:xfrm>
          <a:prstGeom prst="ellipse">
            <a:avLst/>
          </a:prstGeom>
          <a:solidFill>
            <a:srgbClr val="0D9488"/>
          </a:solidFill>
          <a:ln w="12700">
            <a:solidFill>
              <a:srgbClr val="0D9488"/>
            </a:solidFill>
            <a:prstDash val="solid"/>
          </a:ln>
        </p:spPr>
        <p:txBody>
          <a:bodyPr/>
          <a:lstStyle/>
          <a:p>
            <a:endParaRPr lang="en-US"/>
          </a:p>
        </p:txBody>
      </p:sp>
      <p:pic>
        <p:nvPicPr>
          <p:cNvPr id="57" name="Image 2" descr="preencoded.png"/>
          <p:cNvPicPr>
            <a:picLocks noChangeAspect="1"/>
          </p:cNvPicPr>
          <p:nvPr/>
        </p:nvPicPr>
        <p:blipFill>
          <a:blip r:embed="rId5"/>
          <a:stretch>
            <a:fillRect/>
          </a:stretch>
        </p:blipFill>
        <p:spPr>
          <a:xfrm>
            <a:off x="4265676" y="2578608"/>
            <a:ext cx="420624" cy="420624"/>
          </a:xfrm>
          <a:prstGeom prst="rect">
            <a:avLst/>
          </a:prstGeom>
        </p:spPr>
      </p:pic>
      <p:sp>
        <p:nvSpPr>
          <p:cNvPr id="58" name="Text 53"/>
          <p:cNvSpPr/>
          <p:nvPr/>
        </p:nvSpPr>
        <p:spPr>
          <a:xfrm>
            <a:off x="3767328" y="3145536"/>
            <a:ext cx="141732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Python Forecasting</a:t>
            </a:r>
            <a:endParaRPr lang="en-US" sz="1050" dirty="0"/>
          </a:p>
        </p:txBody>
      </p:sp>
      <p:sp>
        <p:nvSpPr>
          <p:cNvPr id="59" name="Text 54"/>
          <p:cNvSpPr/>
          <p:nvPr/>
        </p:nvSpPr>
        <p:spPr>
          <a:xfrm>
            <a:off x="3767328" y="3529584"/>
            <a:ext cx="1417320" cy="320040"/>
          </a:xfrm>
          <a:prstGeom prst="rect">
            <a:avLst/>
          </a:prstGeom>
          <a:noFill/>
          <a:ln/>
        </p:spPr>
        <p:txBody>
          <a:bodyPr wrap="square" rtlCol="0" anchor="ctr"/>
          <a:lstStyle/>
          <a:p>
            <a:pPr marL="0" indent="0" algn="ctr">
              <a:buNone/>
            </a:pPr>
            <a:r>
              <a:rPr lang="en-US" sz="900" dirty="0">
                <a:solidFill>
                  <a:srgbClr val="14B8A6"/>
                </a:solidFill>
                <a:latin typeface="Calibri" pitchFamily="34" charset="0"/>
                <a:ea typeface="Calibri" pitchFamily="34" charset="-122"/>
                <a:cs typeface="Calibri" pitchFamily="34" charset="-120"/>
              </a:rPr>
              <a:t>Scenarios &amp; Risk Flags</a:t>
            </a:r>
            <a:endParaRPr lang="en-US" sz="900" dirty="0"/>
          </a:p>
        </p:txBody>
      </p:sp>
      <p:sp>
        <p:nvSpPr>
          <p:cNvPr id="60" name="Shape 55"/>
          <p:cNvSpPr/>
          <p:nvPr/>
        </p:nvSpPr>
        <p:spPr>
          <a:xfrm>
            <a:off x="5422392" y="2423160"/>
            <a:ext cx="1508760" cy="1508760"/>
          </a:xfrm>
          <a:prstGeom prst="rect">
            <a:avLst/>
          </a:prstGeom>
          <a:solidFill>
            <a:srgbClr val="162740"/>
          </a:solidFill>
          <a:ln w="12700">
            <a:solidFill>
              <a:srgbClr val="243B55"/>
            </a:solidFill>
            <a:prstDash val="solid"/>
          </a:ln>
        </p:spPr>
        <p:txBody>
          <a:bodyPr/>
          <a:lstStyle/>
          <a:p>
            <a:endParaRPr lang="en-US"/>
          </a:p>
        </p:txBody>
      </p:sp>
      <p:sp>
        <p:nvSpPr>
          <p:cNvPr id="61" name="Shape 56"/>
          <p:cNvSpPr/>
          <p:nvPr/>
        </p:nvSpPr>
        <p:spPr>
          <a:xfrm>
            <a:off x="5902452" y="2514600"/>
            <a:ext cx="548640" cy="548640"/>
          </a:xfrm>
          <a:prstGeom prst="ellipse">
            <a:avLst/>
          </a:prstGeom>
          <a:solidFill>
            <a:srgbClr val="0D9488"/>
          </a:solidFill>
          <a:ln w="12700">
            <a:solidFill>
              <a:srgbClr val="0D9488"/>
            </a:solidFill>
            <a:prstDash val="solid"/>
          </a:ln>
        </p:spPr>
        <p:txBody>
          <a:bodyPr/>
          <a:lstStyle/>
          <a:p>
            <a:endParaRPr lang="en-US"/>
          </a:p>
        </p:txBody>
      </p:sp>
      <p:pic>
        <p:nvPicPr>
          <p:cNvPr id="62" name="Image 3" descr="preencoded.png"/>
          <p:cNvPicPr>
            <a:picLocks noChangeAspect="1"/>
          </p:cNvPicPr>
          <p:nvPr/>
        </p:nvPicPr>
        <p:blipFill>
          <a:blip r:embed="rId6"/>
          <a:stretch>
            <a:fillRect/>
          </a:stretch>
        </p:blipFill>
        <p:spPr>
          <a:xfrm>
            <a:off x="5966460" y="2578608"/>
            <a:ext cx="420624" cy="420624"/>
          </a:xfrm>
          <a:prstGeom prst="rect">
            <a:avLst/>
          </a:prstGeom>
        </p:spPr>
      </p:pic>
      <p:sp>
        <p:nvSpPr>
          <p:cNvPr id="63" name="Text 57"/>
          <p:cNvSpPr/>
          <p:nvPr/>
        </p:nvSpPr>
        <p:spPr>
          <a:xfrm>
            <a:off x="5468112" y="3145536"/>
            <a:ext cx="141732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Power BI Dashboard</a:t>
            </a:r>
            <a:endParaRPr lang="en-US" sz="1050" dirty="0"/>
          </a:p>
        </p:txBody>
      </p:sp>
      <p:sp>
        <p:nvSpPr>
          <p:cNvPr id="64" name="Text 58"/>
          <p:cNvSpPr/>
          <p:nvPr/>
        </p:nvSpPr>
        <p:spPr>
          <a:xfrm>
            <a:off x="5468112" y="3529584"/>
            <a:ext cx="1417320" cy="320040"/>
          </a:xfrm>
          <a:prstGeom prst="rect">
            <a:avLst/>
          </a:prstGeom>
          <a:noFill/>
          <a:ln/>
        </p:spPr>
        <p:txBody>
          <a:bodyPr wrap="square" rtlCol="0" anchor="ctr"/>
          <a:lstStyle/>
          <a:p>
            <a:pPr marL="0" indent="0" algn="ctr">
              <a:buNone/>
            </a:pPr>
            <a:r>
              <a:rPr lang="en-US" sz="900" dirty="0">
                <a:solidFill>
                  <a:srgbClr val="14B8A6"/>
                </a:solidFill>
                <a:latin typeface="Calibri" pitchFamily="34" charset="0"/>
                <a:ea typeface="Calibri" pitchFamily="34" charset="-122"/>
                <a:cs typeface="Calibri" pitchFamily="34" charset="-120"/>
              </a:rPr>
              <a:t>Interactive Reporting</a:t>
            </a:r>
            <a:endParaRPr lang="en-US" sz="900" dirty="0"/>
          </a:p>
        </p:txBody>
      </p:sp>
      <p:sp>
        <p:nvSpPr>
          <p:cNvPr id="65" name="Shape 59"/>
          <p:cNvSpPr/>
          <p:nvPr/>
        </p:nvSpPr>
        <p:spPr>
          <a:xfrm>
            <a:off x="7123176" y="2423160"/>
            <a:ext cx="1508760" cy="1508760"/>
          </a:xfrm>
          <a:prstGeom prst="rect">
            <a:avLst/>
          </a:prstGeom>
          <a:solidFill>
            <a:srgbClr val="162740"/>
          </a:solidFill>
          <a:ln w="12700">
            <a:solidFill>
              <a:srgbClr val="243B55"/>
            </a:solidFill>
            <a:prstDash val="solid"/>
          </a:ln>
        </p:spPr>
        <p:txBody>
          <a:bodyPr/>
          <a:lstStyle/>
          <a:p>
            <a:endParaRPr lang="en-US"/>
          </a:p>
        </p:txBody>
      </p:sp>
      <p:sp>
        <p:nvSpPr>
          <p:cNvPr id="66" name="Shape 60"/>
          <p:cNvSpPr/>
          <p:nvPr/>
        </p:nvSpPr>
        <p:spPr>
          <a:xfrm>
            <a:off x="7603236" y="2514600"/>
            <a:ext cx="548640" cy="548640"/>
          </a:xfrm>
          <a:prstGeom prst="ellipse">
            <a:avLst/>
          </a:prstGeom>
          <a:solidFill>
            <a:srgbClr val="0D9488"/>
          </a:solidFill>
          <a:ln w="12700">
            <a:solidFill>
              <a:srgbClr val="0D9488"/>
            </a:solidFill>
            <a:prstDash val="solid"/>
          </a:ln>
        </p:spPr>
        <p:txBody>
          <a:bodyPr/>
          <a:lstStyle/>
          <a:p>
            <a:endParaRPr lang="en-US"/>
          </a:p>
        </p:txBody>
      </p:sp>
      <p:pic>
        <p:nvPicPr>
          <p:cNvPr id="67" name="Image 4" descr="preencoded.png"/>
          <p:cNvPicPr>
            <a:picLocks noChangeAspect="1"/>
          </p:cNvPicPr>
          <p:nvPr/>
        </p:nvPicPr>
        <p:blipFill>
          <a:blip r:embed="rId7"/>
          <a:stretch>
            <a:fillRect/>
          </a:stretch>
        </p:blipFill>
        <p:spPr>
          <a:xfrm>
            <a:off x="7667244" y="2578608"/>
            <a:ext cx="420624" cy="420624"/>
          </a:xfrm>
          <a:prstGeom prst="rect">
            <a:avLst/>
          </a:prstGeom>
        </p:spPr>
      </p:pic>
      <p:sp>
        <p:nvSpPr>
          <p:cNvPr id="68" name="Text 61"/>
          <p:cNvSpPr/>
          <p:nvPr/>
        </p:nvSpPr>
        <p:spPr>
          <a:xfrm>
            <a:off x="7168896" y="3145536"/>
            <a:ext cx="1417320" cy="365760"/>
          </a:xfrm>
          <a:prstGeom prst="rect">
            <a:avLst/>
          </a:prstGeom>
          <a:noFill/>
          <a:ln/>
        </p:spPr>
        <p:txBody>
          <a:bodyPr wrap="square"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Executive Report</a:t>
            </a:r>
            <a:endParaRPr lang="en-US" sz="1050" dirty="0"/>
          </a:p>
        </p:txBody>
      </p:sp>
      <p:sp>
        <p:nvSpPr>
          <p:cNvPr id="69" name="Text 62"/>
          <p:cNvSpPr/>
          <p:nvPr/>
        </p:nvSpPr>
        <p:spPr>
          <a:xfrm>
            <a:off x="7168896" y="3529584"/>
            <a:ext cx="1417320" cy="320040"/>
          </a:xfrm>
          <a:prstGeom prst="rect">
            <a:avLst/>
          </a:prstGeom>
          <a:noFill/>
          <a:ln/>
        </p:spPr>
        <p:txBody>
          <a:bodyPr wrap="square" rtlCol="0" anchor="ctr"/>
          <a:lstStyle/>
          <a:p>
            <a:pPr marL="0" indent="0" algn="ctr">
              <a:buNone/>
            </a:pPr>
            <a:r>
              <a:rPr lang="en-US" sz="900" dirty="0">
                <a:solidFill>
                  <a:srgbClr val="14B8A6"/>
                </a:solidFill>
                <a:latin typeface="Calibri" pitchFamily="34" charset="0"/>
                <a:ea typeface="Calibri" pitchFamily="34" charset="-122"/>
                <a:cs typeface="Calibri" pitchFamily="34" charset="-120"/>
              </a:rPr>
              <a:t>Leadership-Ready Output</a:t>
            </a:r>
            <a:endParaRPr lang="en-US" sz="900" dirty="0"/>
          </a:p>
        </p:txBody>
      </p:sp>
      <p:sp>
        <p:nvSpPr>
          <p:cNvPr id="70" name="Shape 63"/>
          <p:cNvSpPr/>
          <p:nvPr/>
        </p:nvSpPr>
        <p:spPr>
          <a:xfrm>
            <a:off x="0" y="4251960"/>
            <a:ext cx="9144000" cy="891540"/>
          </a:xfrm>
          <a:prstGeom prst="rect">
            <a:avLst/>
          </a:prstGeom>
          <a:solidFill>
            <a:srgbClr val="0D9488"/>
          </a:solidFill>
          <a:ln w="12700">
            <a:solidFill>
              <a:srgbClr val="0D9488"/>
            </a:solidFill>
            <a:prstDash val="solid"/>
          </a:ln>
        </p:spPr>
        <p:txBody>
          <a:bodyPr/>
          <a:lstStyle/>
          <a:p>
            <a:endParaRPr lang="en-US"/>
          </a:p>
        </p:txBody>
      </p:sp>
      <p:sp>
        <p:nvSpPr>
          <p:cNvPr id="71" name="Text 64"/>
          <p:cNvSpPr/>
          <p:nvPr/>
        </p:nvSpPr>
        <p:spPr>
          <a:xfrm>
            <a:off x="365760" y="4352544"/>
            <a:ext cx="8412480" cy="45720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Srushti Mahant Pawar  ·  FP&amp;A Analytics Portfolio  ·  2026</a:t>
            </a:r>
            <a:endParaRPr lang="en-US" sz="1300" dirty="0"/>
          </a:p>
        </p:txBody>
      </p:sp>
      <p:sp>
        <p:nvSpPr>
          <p:cNvPr id="72" name="Text 65"/>
          <p:cNvSpPr/>
          <p:nvPr/>
        </p:nvSpPr>
        <p:spPr>
          <a:xfrm>
            <a:off x="365760" y="4663440"/>
            <a:ext cx="8412480" cy="320040"/>
          </a:xfrm>
          <a:prstGeom prst="rect">
            <a:avLst/>
          </a:prstGeom>
          <a:noFill/>
          <a:ln/>
        </p:spPr>
        <p:txBody>
          <a:bodyPr wrap="square" rtlCol="0" anchor="ctr"/>
          <a:lstStyle/>
          <a:p>
            <a:pPr marL="0" indent="0" algn="ctr">
              <a:buNone/>
            </a:pPr>
            <a:r>
              <a:rPr lang="en-US" sz="1100" dirty="0">
                <a:solidFill>
                  <a:srgbClr val="CFFAF4"/>
                </a:solidFill>
                <a:latin typeface="Calibri" pitchFamily="34" charset="0"/>
                <a:ea typeface="Calibri" pitchFamily="34" charset="-122"/>
                <a:cs typeface="Calibri" pitchFamily="34" charset="-120"/>
              </a:rPr>
              <a:t>Excel  ·  SQL  ·  Python  ·  Power BI  ·  GitHub  ·  LinkedIn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1372</Words>
  <Application>Microsoft Office PowerPoint</Application>
  <PresentationFormat>On-screen Show (16:9)</PresentationFormat>
  <Paragraphs>196</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NovaPay Financial Performance Dashboard</dc:title>
  <dc:subject>PptxGenJS Presentation</dc:subject>
  <dc:creator>Srushti Mahant Pawar</dc:creator>
  <cp:lastModifiedBy>Pawar, Srushti Mahant</cp:lastModifiedBy>
  <cp:revision>2</cp:revision>
  <dcterms:created xsi:type="dcterms:W3CDTF">2026-05-28T19:24:56Z</dcterms:created>
  <dcterms:modified xsi:type="dcterms:W3CDTF">2026-05-28T19:55:21Z</dcterms:modified>
</cp:coreProperties>
</file>